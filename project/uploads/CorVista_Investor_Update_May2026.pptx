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1" r:id="rId3"/>
    <p:sldId id="258" r:id="rId4"/>
    <p:sldId id="263" r:id="rId5"/>
    <p:sldId id="262" r:id="rId6"/>
    <p:sldId id="260"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AF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41"/>
    <p:restoredTop sz="94610"/>
  </p:normalViewPr>
  <p:slideViewPr>
    <p:cSldViewPr snapToGrid="0" snapToObjects="1">
      <p:cViewPr varScale="1">
        <p:scale>
          <a:sx n="162" d="100"/>
          <a:sy n="162" d="100"/>
        </p:scale>
        <p:origin x="14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68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joining. This update covers our progress across four fronts since our last touchpoint: (1) a new strategic research collaboration with Mayo Clinic in pulmonary hypertension, (2) compelling clinical data presented at ACC.26 on noninvasive ischemia detection, (3) our ongoing GTM audit and strategy refinement, and (4) near-term commercial pipeline. We will also briefly cover our presence at ATS.26 this coming weekend (May 17–19).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April 28 we announced a research collaboration with Mayo Clinic to evaluate the FDA-cleared CorVista-PH test for detection, risk stratification, and referral accuracy in suspected PH. Mayo will run a prospective observational study, pairing their cardiopulmonary expertise with our physiologic-signal platform. PH affects ~1% of the global population and is frequently underdiagnosed; our PH indication was supported by trials with 11,000+ patients and previously received FDA Breakthrough Device Designation. Strategically, this validates our science and lays a foundation for broader adoption.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ACC.26 we presented data from a machine-learned model using physiologic signals to detect ischemia in symptomatic patients. Headline results: AUC 0.86, sensitivity 90%, NPV 99%. Strong subgroup performance: 91% sensitivity in epicardial CAD and 86% in suspected INOCA — consistent across sex, age, and BMI. The INOCA result is strategically important: PET-CT, currently the only noninvasive option, is unavailable to &gt;90% of symptomatic patients, and up to two-thirds of women referred for angiography have no obstructive disease. A highly sensitive rule-out at the point of care addresses a major unmet need.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partway through a comprehensive go-to-market audit. The objective is to ensure our commercial model is fit for scale before we accelerate spend. Four focus areas: (1) ICP — which sites and account types we prioritize; (2) channel and coverage model — direct vs. partner-led motions and field structure; (3) reimbursement and value story — leveraging the ACC.26 data to support payer engagement; and (4) operational readiness — onboarding, training, and post-sale support. Recommendations will roll into the H2 plan and guide resource allocation.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May 1, 2026 we presented our proposed CPT III code at the AMA CPT Editorial Panel meeting. The presentation was delivered with constructive engagement from panel reviewers and formal support from the American College of Cardiology. We are now awaiting the panel's official determination, which is expected in the coming months. While the outcome is not yet final, we remain optimistic given the strength of the supporting evidence and the endorsement we received entering the meeting. Strategically, a CPT III code establishes the reimbursement infrastructure needed to advance downstream coverage discussions and to support payer adoption — a critical step in our commercial roadmap.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Near-term pipeline, de-identified: top-tier AMC research collaboration in scoping (PH); a national cardiology practice network for multi-site evaluation; a major commercial payer for coverage policy engagement; and a regional IDN exploring a pilot deployment. We will share specifics as engagements advance. Upcoming: ATS.26, the American Thoracic Society International Conference, May 17–19. Our team will be on the ground engaging KOLs in pulmonary vascular medicine and amplifying the Mayo announcement to deepen visibility of the CorVista-PH test.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6035040" y="457200"/>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3" name="Shape 1"/>
          <p:cNvSpPr/>
          <p:nvPr/>
        </p:nvSpPr>
        <p:spPr>
          <a:xfrm>
            <a:off x="6327648" y="457200"/>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4" name="Shape 2"/>
          <p:cNvSpPr/>
          <p:nvPr/>
        </p:nvSpPr>
        <p:spPr>
          <a:xfrm>
            <a:off x="6620256" y="457200"/>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5" name="Shape 3"/>
          <p:cNvSpPr/>
          <p:nvPr/>
        </p:nvSpPr>
        <p:spPr>
          <a:xfrm>
            <a:off x="6912864" y="457200"/>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6" name="Shape 4"/>
          <p:cNvSpPr/>
          <p:nvPr/>
        </p:nvSpPr>
        <p:spPr>
          <a:xfrm>
            <a:off x="7205472" y="457200"/>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7" name="Shape 5"/>
          <p:cNvSpPr/>
          <p:nvPr/>
        </p:nvSpPr>
        <p:spPr>
          <a:xfrm>
            <a:off x="7498080" y="457200"/>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8" name="Shape 6"/>
          <p:cNvSpPr/>
          <p:nvPr/>
        </p:nvSpPr>
        <p:spPr>
          <a:xfrm>
            <a:off x="7790688" y="457200"/>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9" name="Shape 7"/>
          <p:cNvSpPr/>
          <p:nvPr/>
        </p:nvSpPr>
        <p:spPr>
          <a:xfrm>
            <a:off x="8083296" y="457200"/>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0" name="Shape 8"/>
          <p:cNvSpPr/>
          <p:nvPr/>
        </p:nvSpPr>
        <p:spPr>
          <a:xfrm>
            <a:off x="8375904" y="457200"/>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1" name="Shape 9"/>
          <p:cNvSpPr/>
          <p:nvPr/>
        </p:nvSpPr>
        <p:spPr>
          <a:xfrm>
            <a:off x="8668512" y="457200"/>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2" name="Shape 10"/>
          <p:cNvSpPr/>
          <p:nvPr/>
        </p:nvSpPr>
        <p:spPr>
          <a:xfrm>
            <a:off x="6035040" y="768096"/>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3" name="Shape 11"/>
          <p:cNvSpPr/>
          <p:nvPr/>
        </p:nvSpPr>
        <p:spPr>
          <a:xfrm>
            <a:off x="6327648" y="768096"/>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4" name="Shape 12"/>
          <p:cNvSpPr/>
          <p:nvPr/>
        </p:nvSpPr>
        <p:spPr>
          <a:xfrm>
            <a:off x="6620256" y="768096"/>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5" name="Shape 13"/>
          <p:cNvSpPr/>
          <p:nvPr/>
        </p:nvSpPr>
        <p:spPr>
          <a:xfrm>
            <a:off x="6912864" y="768096"/>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6" name="Shape 14"/>
          <p:cNvSpPr/>
          <p:nvPr/>
        </p:nvSpPr>
        <p:spPr>
          <a:xfrm>
            <a:off x="7205472" y="768096"/>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7" name="Shape 15"/>
          <p:cNvSpPr/>
          <p:nvPr/>
        </p:nvSpPr>
        <p:spPr>
          <a:xfrm>
            <a:off x="7498080" y="768096"/>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8" name="Shape 16"/>
          <p:cNvSpPr/>
          <p:nvPr/>
        </p:nvSpPr>
        <p:spPr>
          <a:xfrm>
            <a:off x="7790688" y="768096"/>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9" name="Shape 17"/>
          <p:cNvSpPr/>
          <p:nvPr/>
        </p:nvSpPr>
        <p:spPr>
          <a:xfrm>
            <a:off x="8083296" y="768096"/>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20" name="Shape 18"/>
          <p:cNvSpPr/>
          <p:nvPr/>
        </p:nvSpPr>
        <p:spPr>
          <a:xfrm>
            <a:off x="8375904" y="768096"/>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21" name="Shape 19"/>
          <p:cNvSpPr/>
          <p:nvPr/>
        </p:nvSpPr>
        <p:spPr>
          <a:xfrm>
            <a:off x="8668512" y="768096"/>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22" name="Shape 20"/>
          <p:cNvSpPr/>
          <p:nvPr/>
        </p:nvSpPr>
        <p:spPr>
          <a:xfrm>
            <a:off x="6035040" y="1078992"/>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23" name="Shape 21"/>
          <p:cNvSpPr/>
          <p:nvPr/>
        </p:nvSpPr>
        <p:spPr>
          <a:xfrm>
            <a:off x="6327648" y="1078992"/>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24" name="Shape 22"/>
          <p:cNvSpPr/>
          <p:nvPr/>
        </p:nvSpPr>
        <p:spPr>
          <a:xfrm>
            <a:off x="6620256" y="1078992"/>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25" name="Shape 23"/>
          <p:cNvSpPr/>
          <p:nvPr/>
        </p:nvSpPr>
        <p:spPr>
          <a:xfrm>
            <a:off x="6912864" y="1078992"/>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26" name="Shape 24"/>
          <p:cNvSpPr/>
          <p:nvPr/>
        </p:nvSpPr>
        <p:spPr>
          <a:xfrm>
            <a:off x="7205472" y="1078992"/>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27" name="Shape 25"/>
          <p:cNvSpPr/>
          <p:nvPr/>
        </p:nvSpPr>
        <p:spPr>
          <a:xfrm>
            <a:off x="7498080" y="1078992"/>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28" name="Shape 26"/>
          <p:cNvSpPr/>
          <p:nvPr/>
        </p:nvSpPr>
        <p:spPr>
          <a:xfrm>
            <a:off x="7790688" y="1078992"/>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29" name="Shape 27"/>
          <p:cNvSpPr/>
          <p:nvPr/>
        </p:nvSpPr>
        <p:spPr>
          <a:xfrm>
            <a:off x="8083296" y="1078992"/>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30" name="Shape 28"/>
          <p:cNvSpPr/>
          <p:nvPr/>
        </p:nvSpPr>
        <p:spPr>
          <a:xfrm>
            <a:off x="8375904" y="1078992"/>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31" name="Shape 29"/>
          <p:cNvSpPr/>
          <p:nvPr/>
        </p:nvSpPr>
        <p:spPr>
          <a:xfrm>
            <a:off x="8668512" y="1078992"/>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32" name="Shape 30"/>
          <p:cNvSpPr/>
          <p:nvPr/>
        </p:nvSpPr>
        <p:spPr>
          <a:xfrm>
            <a:off x="6035040" y="1389888"/>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33" name="Shape 31"/>
          <p:cNvSpPr/>
          <p:nvPr/>
        </p:nvSpPr>
        <p:spPr>
          <a:xfrm>
            <a:off x="6327648" y="1389888"/>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34" name="Shape 32"/>
          <p:cNvSpPr/>
          <p:nvPr/>
        </p:nvSpPr>
        <p:spPr>
          <a:xfrm>
            <a:off x="6620256" y="1389888"/>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35" name="Shape 33"/>
          <p:cNvSpPr/>
          <p:nvPr/>
        </p:nvSpPr>
        <p:spPr>
          <a:xfrm>
            <a:off x="6912864" y="1389888"/>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36" name="Shape 34"/>
          <p:cNvSpPr/>
          <p:nvPr/>
        </p:nvSpPr>
        <p:spPr>
          <a:xfrm>
            <a:off x="7205472" y="1389888"/>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37" name="Shape 35"/>
          <p:cNvSpPr/>
          <p:nvPr/>
        </p:nvSpPr>
        <p:spPr>
          <a:xfrm>
            <a:off x="7498080" y="1389888"/>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38" name="Shape 36"/>
          <p:cNvSpPr/>
          <p:nvPr/>
        </p:nvSpPr>
        <p:spPr>
          <a:xfrm>
            <a:off x="7790688" y="1389888"/>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39" name="Shape 37"/>
          <p:cNvSpPr/>
          <p:nvPr/>
        </p:nvSpPr>
        <p:spPr>
          <a:xfrm>
            <a:off x="8083296" y="1389888"/>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40" name="Shape 38"/>
          <p:cNvSpPr/>
          <p:nvPr/>
        </p:nvSpPr>
        <p:spPr>
          <a:xfrm>
            <a:off x="8375904" y="1389888"/>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41" name="Shape 39"/>
          <p:cNvSpPr/>
          <p:nvPr/>
        </p:nvSpPr>
        <p:spPr>
          <a:xfrm>
            <a:off x="8668512" y="1389888"/>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42" name="Shape 40"/>
          <p:cNvSpPr/>
          <p:nvPr/>
        </p:nvSpPr>
        <p:spPr>
          <a:xfrm>
            <a:off x="6035040" y="1700784"/>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43" name="Shape 41"/>
          <p:cNvSpPr/>
          <p:nvPr/>
        </p:nvSpPr>
        <p:spPr>
          <a:xfrm>
            <a:off x="6327648" y="1700784"/>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44" name="Shape 42"/>
          <p:cNvSpPr/>
          <p:nvPr/>
        </p:nvSpPr>
        <p:spPr>
          <a:xfrm>
            <a:off x="6620256" y="1700784"/>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45" name="Shape 43"/>
          <p:cNvSpPr/>
          <p:nvPr/>
        </p:nvSpPr>
        <p:spPr>
          <a:xfrm>
            <a:off x="6912864" y="1700784"/>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46" name="Shape 44"/>
          <p:cNvSpPr/>
          <p:nvPr/>
        </p:nvSpPr>
        <p:spPr>
          <a:xfrm>
            <a:off x="7205472" y="1700784"/>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47" name="Shape 45"/>
          <p:cNvSpPr/>
          <p:nvPr/>
        </p:nvSpPr>
        <p:spPr>
          <a:xfrm>
            <a:off x="7498080" y="1700784"/>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48" name="Shape 46"/>
          <p:cNvSpPr/>
          <p:nvPr/>
        </p:nvSpPr>
        <p:spPr>
          <a:xfrm>
            <a:off x="7790688" y="1700784"/>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49" name="Shape 47"/>
          <p:cNvSpPr/>
          <p:nvPr/>
        </p:nvSpPr>
        <p:spPr>
          <a:xfrm>
            <a:off x="8083296" y="1700784"/>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50" name="Shape 48"/>
          <p:cNvSpPr/>
          <p:nvPr/>
        </p:nvSpPr>
        <p:spPr>
          <a:xfrm>
            <a:off x="8375904" y="1700784"/>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51" name="Shape 49"/>
          <p:cNvSpPr/>
          <p:nvPr/>
        </p:nvSpPr>
        <p:spPr>
          <a:xfrm>
            <a:off x="8668512" y="1700784"/>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52" name="Shape 50"/>
          <p:cNvSpPr/>
          <p:nvPr/>
        </p:nvSpPr>
        <p:spPr>
          <a:xfrm>
            <a:off x="6035040" y="2011680"/>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53" name="Shape 51"/>
          <p:cNvSpPr/>
          <p:nvPr/>
        </p:nvSpPr>
        <p:spPr>
          <a:xfrm>
            <a:off x="6327648" y="2011680"/>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54" name="Shape 52"/>
          <p:cNvSpPr/>
          <p:nvPr/>
        </p:nvSpPr>
        <p:spPr>
          <a:xfrm>
            <a:off x="6620256" y="2011680"/>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55" name="Shape 53"/>
          <p:cNvSpPr/>
          <p:nvPr/>
        </p:nvSpPr>
        <p:spPr>
          <a:xfrm>
            <a:off x="6912864" y="2011680"/>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56" name="Shape 54"/>
          <p:cNvSpPr/>
          <p:nvPr/>
        </p:nvSpPr>
        <p:spPr>
          <a:xfrm>
            <a:off x="7205472" y="2011680"/>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57" name="Shape 55"/>
          <p:cNvSpPr/>
          <p:nvPr/>
        </p:nvSpPr>
        <p:spPr>
          <a:xfrm>
            <a:off x="7498080" y="2011680"/>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58" name="Shape 56"/>
          <p:cNvSpPr/>
          <p:nvPr/>
        </p:nvSpPr>
        <p:spPr>
          <a:xfrm>
            <a:off x="7790688" y="2011680"/>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59" name="Shape 57"/>
          <p:cNvSpPr/>
          <p:nvPr/>
        </p:nvSpPr>
        <p:spPr>
          <a:xfrm>
            <a:off x="8083296" y="2011680"/>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60" name="Shape 58"/>
          <p:cNvSpPr/>
          <p:nvPr/>
        </p:nvSpPr>
        <p:spPr>
          <a:xfrm>
            <a:off x="8375904" y="2011680"/>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61" name="Shape 59"/>
          <p:cNvSpPr/>
          <p:nvPr/>
        </p:nvSpPr>
        <p:spPr>
          <a:xfrm>
            <a:off x="8668512" y="2011680"/>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62" name="Shape 60"/>
          <p:cNvSpPr/>
          <p:nvPr/>
        </p:nvSpPr>
        <p:spPr>
          <a:xfrm>
            <a:off x="6035040" y="2322576"/>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63" name="Shape 61"/>
          <p:cNvSpPr/>
          <p:nvPr/>
        </p:nvSpPr>
        <p:spPr>
          <a:xfrm>
            <a:off x="6327648" y="2322576"/>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64" name="Shape 62"/>
          <p:cNvSpPr/>
          <p:nvPr/>
        </p:nvSpPr>
        <p:spPr>
          <a:xfrm>
            <a:off x="6620256" y="2322576"/>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65" name="Shape 63"/>
          <p:cNvSpPr/>
          <p:nvPr/>
        </p:nvSpPr>
        <p:spPr>
          <a:xfrm>
            <a:off x="6912864" y="2322576"/>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66" name="Shape 64"/>
          <p:cNvSpPr/>
          <p:nvPr/>
        </p:nvSpPr>
        <p:spPr>
          <a:xfrm>
            <a:off x="7205472" y="2322576"/>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67" name="Shape 65"/>
          <p:cNvSpPr/>
          <p:nvPr/>
        </p:nvSpPr>
        <p:spPr>
          <a:xfrm>
            <a:off x="7498080" y="2322576"/>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68" name="Shape 66"/>
          <p:cNvSpPr/>
          <p:nvPr/>
        </p:nvSpPr>
        <p:spPr>
          <a:xfrm>
            <a:off x="7790688" y="2322576"/>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69" name="Shape 67"/>
          <p:cNvSpPr/>
          <p:nvPr/>
        </p:nvSpPr>
        <p:spPr>
          <a:xfrm>
            <a:off x="8083296" y="2322576"/>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70" name="Shape 68"/>
          <p:cNvSpPr/>
          <p:nvPr/>
        </p:nvSpPr>
        <p:spPr>
          <a:xfrm>
            <a:off x="8375904" y="2322576"/>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71" name="Shape 69"/>
          <p:cNvSpPr/>
          <p:nvPr/>
        </p:nvSpPr>
        <p:spPr>
          <a:xfrm>
            <a:off x="8668512" y="2322576"/>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72" name="Shape 70"/>
          <p:cNvSpPr/>
          <p:nvPr/>
        </p:nvSpPr>
        <p:spPr>
          <a:xfrm>
            <a:off x="6035040" y="2633472"/>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73" name="Shape 71"/>
          <p:cNvSpPr/>
          <p:nvPr/>
        </p:nvSpPr>
        <p:spPr>
          <a:xfrm>
            <a:off x="6327648" y="2633472"/>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74" name="Shape 72"/>
          <p:cNvSpPr/>
          <p:nvPr/>
        </p:nvSpPr>
        <p:spPr>
          <a:xfrm>
            <a:off x="6620256" y="2633472"/>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75" name="Shape 73"/>
          <p:cNvSpPr/>
          <p:nvPr/>
        </p:nvSpPr>
        <p:spPr>
          <a:xfrm>
            <a:off x="6912864" y="2633472"/>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76" name="Shape 74"/>
          <p:cNvSpPr/>
          <p:nvPr/>
        </p:nvSpPr>
        <p:spPr>
          <a:xfrm>
            <a:off x="7205472" y="2633472"/>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77" name="Shape 75"/>
          <p:cNvSpPr/>
          <p:nvPr/>
        </p:nvSpPr>
        <p:spPr>
          <a:xfrm>
            <a:off x="7498080" y="2633472"/>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78" name="Shape 76"/>
          <p:cNvSpPr/>
          <p:nvPr/>
        </p:nvSpPr>
        <p:spPr>
          <a:xfrm>
            <a:off x="7790688" y="2633472"/>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79" name="Shape 77"/>
          <p:cNvSpPr/>
          <p:nvPr/>
        </p:nvSpPr>
        <p:spPr>
          <a:xfrm>
            <a:off x="8083296" y="2633472"/>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80" name="Shape 78"/>
          <p:cNvSpPr/>
          <p:nvPr/>
        </p:nvSpPr>
        <p:spPr>
          <a:xfrm>
            <a:off x="8375904" y="2633472"/>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81" name="Shape 79"/>
          <p:cNvSpPr/>
          <p:nvPr/>
        </p:nvSpPr>
        <p:spPr>
          <a:xfrm>
            <a:off x="8668512" y="2633472"/>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82" name="Shape 80"/>
          <p:cNvSpPr/>
          <p:nvPr/>
        </p:nvSpPr>
        <p:spPr>
          <a:xfrm>
            <a:off x="6035040" y="2944368"/>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83" name="Shape 81"/>
          <p:cNvSpPr/>
          <p:nvPr/>
        </p:nvSpPr>
        <p:spPr>
          <a:xfrm>
            <a:off x="6327648" y="2944368"/>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84" name="Shape 82"/>
          <p:cNvSpPr/>
          <p:nvPr/>
        </p:nvSpPr>
        <p:spPr>
          <a:xfrm>
            <a:off x="6620256" y="2944368"/>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85" name="Shape 83"/>
          <p:cNvSpPr/>
          <p:nvPr/>
        </p:nvSpPr>
        <p:spPr>
          <a:xfrm>
            <a:off x="6912864" y="2944368"/>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86" name="Shape 84"/>
          <p:cNvSpPr/>
          <p:nvPr/>
        </p:nvSpPr>
        <p:spPr>
          <a:xfrm>
            <a:off x="7205472" y="2944368"/>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87" name="Shape 85"/>
          <p:cNvSpPr/>
          <p:nvPr/>
        </p:nvSpPr>
        <p:spPr>
          <a:xfrm>
            <a:off x="7498080" y="2944368"/>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88" name="Shape 86"/>
          <p:cNvSpPr/>
          <p:nvPr/>
        </p:nvSpPr>
        <p:spPr>
          <a:xfrm>
            <a:off x="7790688" y="2944368"/>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89" name="Shape 87"/>
          <p:cNvSpPr/>
          <p:nvPr/>
        </p:nvSpPr>
        <p:spPr>
          <a:xfrm>
            <a:off x="8083296" y="2944368"/>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90" name="Shape 88"/>
          <p:cNvSpPr/>
          <p:nvPr/>
        </p:nvSpPr>
        <p:spPr>
          <a:xfrm>
            <a:off x="8375904" y="2944368"/>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91" name="Shape 89"/>
          <p:cNvSpPr/>
          <p:nvPr/>
        </p:nvSpPr>
        <p:spPr>
          <a:xfrm>
            <a:off x="8668512" y="2944368"/>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92" name="Shape 90"/>
          <p:cNvSpPr/>
          <p:nvPr/>
        </p:nvSpPr>
        <p:spPr>
          <a:xfrm>
            <a:off x="6035040" y="3255264"/>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93" name="Shape 91"/>
          <p:cNvSpPr/>
          <p:nvPr/>
        </p:nvSpPr>
        <p:spPr>
          <a:xfrm>
            <a:off x="6327648" y="3255264"/>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94" name="Shape 92"/>
          <p:cNvSpPr/>
          <p:nvPr/>
        </p:nvSpPr>
        <p:spPr>
          <a:xfrm>
            <a:off x="6620256" y="3255264"/>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95" name="Shape 93"/>
          <p:cNvSpPr/>
          <p:nvPr/>
        </p:nvSpPr>
        <p:spPr>
          <a:xfrm>
            <a:off x="6912864" y="3255264"/>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96" name="Shape 94"/>
          <p:cNvSpPr/>
          <p:nvPr/>
        </p:nvSpPr>
        <p:spPr>
          <a:xfrm>
            <a:off x="7205472" y="3255264"/>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97" name="Shape 95"/>
          <p:cNvSpPr/>
          <p:nvPr/>
        </p:nvSpPr>
        <p:spPr>
          <a:xfrm>
            <a:off x="7498080" y="3255264"/>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98" name="Shape 96"/>
          <p:cNvSpPr/>
          <p:nvPr/>
        </p:nvSpPr>
        <p:spPr>
          <a:xfrm>
            <a:off x="7790688" y="3255264"/>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99" name="Shape 97"/>
          <p:cNvSpPr/>
          <p:nvPr/>
        </p:nvSpPr>
        <p:spPr>
          <a:xfrm>
            <a:off x="8083296" y="3255264"/>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00" name="Shape 98"/>
          <p:cNvSpPr/>
          <p:nvPr/>
        </p:nvSpPr>
        <p:spPr>
          <a:xfrm>
            <a:off x="8375904" y="3255264"/>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01" name="Shape 99"/>
          <p:cNvSpPr/>
          <p:nvPr/>
        </p:nvSpPr>
        <p:spPr>
          <a:xfrm>
            <a:off x="8668512" y="3255264"/>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02" name="Shape 100"/>
          <p:cNvSpPr/>
          <p:nvPr/>
        </p:nvSpPr>
        <p:spPr>
          <a:xfrm>
            <a:off x="6035040" y="3566160"/>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03" name="Shape 101"/>
          <p:cNvSpPr/>
          <p:nvPr/>
        </p:nvSpPr>
        <p:spPr>
          <a:xfrm>
            <a:off x="6327648" y="3566160"/>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04" name="Shape 102"/>
          <p:cNvSpPr/>
          <p:nvPr/>
        </p:nvSpPr>
        <p:spPr>
          <a:xfrm>
            <a:off x="6620256" y="3566160"/>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05" name="Shape 103"/>
          <p:cNvSpPr/>
          <p:nvPr/>
        </p:nvSpPr>
        <p:spPr>
          <a:xfrm>
            <a:off x="6912864" y="3566160"/>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06" name="Shape 104"/>
          <p:cNvSpPr/>
          <p:nvPr/>
        </p:nvSpPr>
        <p:spPr>
          <a:xfrm>
            <a:off x="7205472" y="3566160"/>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07" name="Shape 105"/>
          <p:cNvSpPr/>
          <p:nvPr/>
        </p:nvSpPr>
        <p:spPr>
          <a:xfrm>
            <a:off x="7498080" y="3566160"/>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08" name="Shape 106"/>
          <p:cNvSpPr/>
          <p:nvPr/>
        </p:nvSpPr>
        <p:spPr>
          <a:xfrm>
            <a:off x="7790688" y="3566160"/>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09" name="Shape 107"/>
          <p:cNvSpPr/>
          <p:nvPr/>
        </p:nvSpPr>
        <p:spPr>
          <a:xfrm>
            <a:off x="8083296" y="3566160"/>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10" name="Shape 108"/>
          <p:cNvSpPr/>
          <p:nvPr/>
        </p:nvSpPr>
        <p:spPr>
          <a:xfrm>
            <a:off x="8375904" y="3566160"/>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11" name="Shape 109"/>
          <p:cNvSpPr/>
          <p:nvPr/>
        </p:nvSpPr>
        <p:spPr>
          <a:xfrm>
            <a:off x="8668512" y="3566160"/>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12" name="Shape 110"/>
          <p:cNvSpPr/>
          <p:nvPr/>
        </p:nvSpPr>
        <p:spPr>
          <a:xfrm>
            <a:off x="6035040" y="3877056"/>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13" name="Shape 111"/>
          <p:cNvSpPr/>
          <p:nvPr/>
        </p:nvSpPr>
        <p:spPr>
          <a:xfrm>
            <a:off x="6327648" y="3877056"/>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14" name="Shape 112"/>
          <p:cNvSpPr/>
          <p:nvPr/>
        </p:nvSpPr>
        <p:spPr>
          <a:xfrm>
            <a:off x="6620256" y="3877056"/>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15" name="Shape 113"/>
          <p:cNvSpPr/>
          <p:nvPr/>
        </p:nvSpPr>
        <p:spPr>
          <a:xfrm>
            <a:off x="6912864" y="3877056"/>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16" name="Shape 114"/>
          <p:cNvSpPr/>
          <p:nvPr/>
        </p:nvSpPr>
        <p:spPr>
          <a:xfrm>
            <a:off x="7205472" y="3877056"/>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17" name="Shape 115"/>
          <p:cNvSpPr/>
          <p:nvPr/>
        </p:nvSpPr>
        <p:spPr>
          <a:xfrm>
            <a:off x="7498080" y="3877056"/>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18" name="Shape 116"/>
          <p:cNvSpPr/>
          <p:nvPr/>
        </p:nvSpPr>
        <p:spPr>
          <a:xfrm>
            <a:off x="7790688" y="3877056"/>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19" name="Shape 117"/>
          <p:cNvSpPr/>
          <p:nvPr/>
        </p:nvSpPr>
        <p:spPr>
          <a:xfrm>
            <a:off x="8083296" y="3877056"/>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20" name="Shape 118"/>
          <p:cNvSpPr/>
          <p:nvPr/>
        </p:nvSpPr>
        <p:spPr>
          <a:xfrm>
            <a:off x="8375904" y="3877056"/>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21" name="Shape 119"/>
          <p:cNvSpPr/>
          <p:nvPr/>
        </p:nvSpPr>
        <p:spPr>
          <a:xfrm>
            <a:off x="8668512" y="3877056"/>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22" name="Shape 120"/>
          <p:cNvSpPr/>
          <p:nvPr/>
        </p:nvSpPr>
        <p:spPr>
          <a:xfrm>
            <a:off x="6035040" y="4187952"/>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23" name="Shape 121"/>
          <p:cNvSpPr/>
          <p:nvPr/>
        </p:nvSpPr>
        <p:spPr>
          <a:xfrm>
            <a:off x="6327648" y="4187952"/>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24" name="Shape 122"/>
          <p:cNvSpPr/>
          <p:nvPr/>
        </p:nvSpPr>
        <p:spPr>
          <a:xfrm>
            <a:off x="6620256" y="4187952"/>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25" name="Shape 123"/>
          <p:cNvSpPr/>
          <p:nvPr/>
        </p:nvSpPr>
        <p:spPr>
          <a:xfrm>
            <a:off x="6912864" y="4187952"/>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26" name="Shape 124"/>
          <p:cNvSpPr/>
          <p:nvPr/>
        </p:nvSpPr>
        <p:spPr>
          <a:xfrm>
            <a:off x="7205472" y="4187952"/>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27" name="Shape 125"/>
          <p:cNvSpPr/>
          <p:nvPr/>
        </p:nvSpPr>
        <p:spPr>
          <a:xfrm>
            <a:off x="7498080" y="4187952"/>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28" name="Shape 126"/>
          <p:cNvSpPr/>
          <p:nvPr/>
        </p:nvSpPr>
        <p:spPr>
          <a:xfrm>
            <a:off x="7790688" y="4187952"/>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29" name="Shape 127"/>
          <p:cNvSpPr/>
          <p:nvPr/>
        </p:nvSpPr>
        <p:spPr>
          <a:xfrm>
            <a:off x="8083296" y="4187952"/>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30" name="Shape 128"/>
          <p:cNvSpPr/>
          <p:nvPr/>
        </p:nvSpPr>
        <p:spPr>
          <a:xfrm>
            <a:off x="8375904" y="4187952"/>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31" name="Shape 129"/>
          <p:cNvSpPr/>
          <p:nvPr/>
        </p:nvSpPr>
        <p:spPr>
          <a:xfrm>
            <a:off x="8668512" y="4187952"/>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32" name="Shape 130"/>
          <p:cNvSpPr/>
          <p:nvPr/>
        </p:nvSpPr>
        <p:spPr>
          <a:xfrm>
            <a:off x="6035040" y="4498848"/>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33" name="Shape 131"/>
          <p:cNvSpPr/>
          <p:nvPr/>
        </p:nvSpPr>
        <p:spPr>
          <a:xfrm>
            <a:off x="6327648" y="4498848"/>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34" name="Shape 132"/>
          <p:cNvSpPr/>
          <p:nvPr/>
        </p:nvSpPr>
        <p:spPr>
          <a:xfrm>
            <a:off x="6620256" y="4498848"/>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35" name="Shape 133"/>
          <p:cNvSpPr/>
          <p:nvPr/>
        </p:nvSpPr>
        <p:spPr>
          <a:xfrm>
            <a:off x="6912864" y="4498848"/>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36" name="Shape 134"/>
          <p:cNvSpPr/>
          <p:nvPr/>
        </p:nvSpPr>
        <p:spPr>
          <a:xfrm>
            <a:off x="7205472" y="4498848"/>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37" name="Shape 135"/>
          <p:cNvSpPr/>
          <p:nvPr/>
        </p:nvSpPr>
        <p:spPr>
          <a:xfrm>
            <a:off x="7498080" y="4498848"/>
            <a:ext cx="54864" cy="54864"/>
          </a:xfrm>
          <a:prstGeom prst="ellipse">
            <a:avLst/>
          </a:prstGeom>
          <a:solidFill>
            <a:srgbClr val="60B6EE">
              <a:alpha val="16000"/>
            </a:srgbClr>
          </a:solidFill>
          <a:ln w="12700">
            <a:solidFill>
              <a:srgbClr val="60B6EE">
                <a:alpha val="16000"/>
              </a:srgbClr>
            </a:solidFill>
            <a:prstDash val="solid"/>
          </a:ln>
        </p:spPr>
        <p:txBody>
          <a:bodyPr/>
          <a:lstStyle/>
          <a:p>
            <a:endParaRPr lang="en-US"/>
          </a:p>
        </p:txBody>
      </p:sp>
      <p:sp>
        <p:nvSpPr>
          <p:cNvPr id="138" name="Shape 136"/>
          <p:cNvSpPr/>
          <p:nvPr/>
        </p:nvSpPr>
        <p:spPr>
          <a:xfrm>
            <a:off x="7790688" y="4498848"/>
            <a:ext cx="54864" cy="54864"/>
          </a:xfrm>
          <a:prstGeom prst="ellipse">
            <a:avLst/>
          </a:prstGeom>
          <a:solidFill>
            <a:srgbClr val="60B6EE">
              <a:alpha val="0"/>
            </a:srgbClr>
          </a:solidFill>
          <a:ln w="12700">
            <a:solidFill>
              <a:srgbClr val="60B6EE">
                <a:alpha val="0"/>
              </a:srgbClr>
            </a:solidFill>
            <a:prstDash val="solid"/>
          </a:ln>
        </p:spPr>
        <p:txBody>
          <a:bodyPr/>
          <a:lstStyle/>
          <a:p>
            <a:endParaRPr lang="en-US"/>
          </a:p>
        </p:txBody>
      </p:sp>
      <p:sp>
        <p:nvSpPr>
          <p:cNvPr id="139" name="Shape 137"/>
          <p:cNvSpPr/>
          <p:nvPr/>
        </p:nvSpPr>
        <p:spPr>
          <a:xfrm>
            <a:off x="8083296" y="4498848"/>
            <a:ext cx="54864" cy="54864"/>
          </a:xfrm>
          <a:prstGeom prst="ellipse">
            <a:avLst/>
          </a:prstGeom>
          <a:solidFill>
            <a:srgbClr val="60B6EE">
              <a:alpha val="70000"/>
            </a:srgbClr>
          </a:solidFill>
          <a:ln w="12700">
            <a:solidFill>
              <a:srgbClr val="60B6EE">
                <a:alpha val="70000"/>
              </a:srgbClr>
            </a:solidFill>
            <a:prstDash val="solid"/>
          </a:ln>
        </p:spPr>
        <p:txBody>
          <a:bodyPr/>
          <a:lstStyle/>
          <a:p>
            <a:endParaRPr lang="en-US"/>
          </a:p>
        </p:txBody>
      </p:sp>
      <p:sp>
        <p:nvSpPr>
          <p:cNvPr id="140" name="Shape 138"/>
          <p:cNvSpPr/>
          <p:nvPr/>
        </p:nvSpPr>
        <p:spPr>
          <a:xfrm>
            <a:off x="8375904" y="4498848"/>
            <a:ext cx="54864" cy="54864"/>
          </a:xfrm>
          <a:prstGeom prst="ellipse">
            <a:avLst/>
          </a:prstGeom>
          <a:solidFill>
            <a:srgbClr val="60B6EE">
              <a:alpha val="52000"/>
            </a:srgbClr>
          </a:solidFill>
          <a:ln w="12700">
            <a:solidFill>
              <a:srgbClr val="60B6EE">
                <a:alpha val="52000"/>
              </a:srgbClr>
            </a:solidFill>
            <a:prstDash val="solid"/>
          </a:ln>
        </p:spPr>
        <p:txBody>
          <a:bodyPr/>
          <a:lstStyle/>
          <a:p>
            <a:endParaRPr lang="en-US"/>
          </a:p>
        </p:txBody>
      </p:sp>
      <p:sp>
        <p:nvSpPr>
          <p:cNvPr id="141" name="Shape 139"/>
          <p:cNvSpPr/>
          <p:nvPr/>
        </p:nvSpPr>
        <p:spPr>
          <a:xfrm>
            <a:off x="8668512" y="4498848"/>
            <a:ext cx="54864" cy="54864"/>
          </a:xfrm>
          <a:prstGeom prst="ellipse">
            <a:avLst/>
          </a:prstGeom>
          <a:solidFill>
            <a:srgbClr val="60B6EE">
              <a:alpha val="34000"/>
            </a:srgbClr>
          </a:solidFill>
          <a:ln w="12700">
            <a:solidFill>
              <a:srgbClr val="60B6EE">
                <a:alpha val="34000"/>
              </a:srgbClr>
            </a:solidFill>
            <a:prstDash val="solid"/>
          </a:ln>
        </p:spPr>
        <p:txBody>
          <a:bodyPr/>
          <a:lstStyle/>
          <a:p>
            <a:endParaRPr lang="en-US"/>
          </a:p>
        </p:txBody>
      </p:sp>
      <p:sp>
        <p:nvSpPr>
          <p:cNvPr id="142" name="Shape 140"/>
          <p:cNvSpPr/>
          <p:nvPr/>
        </p:nvSpPr>
        <p:spPr>
          <a:xfrm>
            <a:off x="6172200" y="1097280"/>
            <a:ext cx="1874520" cy="914400"/>
          </a:xfrm>
          <a:prstGeom prst="line">
            <a:avLst/>
          </a:prstGeom>
          <a:noFill/>
          <a:ln w="6350">
            <a:solidFill>
              <a:srgbClr val="60B6EE">
                <a:alpha val="30000"/>
              </a:srgbClr>
            </a:solidFill>
            <a:prstDash val="solid"/>
          </a:ln>
        </p:spPr>
        <p:txBody>
          <a:bodyPr/>
          <a:lstStyle/>
          <a:p>
            <a:endParaRPr lang="en-US"/>
          </a:p>
        </p:txBody>
      </p:sp>
      <p:sp>
        <p:nvSpPr>
          <p:cNvPr id="143" name="Shape 141"/>
          <p:cNvSpPr/>
          <p:nvPr/>
        </p:nvSpPr>
        <p:spPr>
          <a:xfrm>
            <a:off x="6766560" y="731520"/>
            <a:ext cx="1645920" cy="2286000"/>
          </a:xfrm>
          <a:prstGeom prst="line">
            <a:avLst/>
          </a:prstGeom>
          <a:noFill/>
          <a:ln w="6350">
            <a:solidFill>
              <a:srgbClr val="60B6EE">
                <a:alpha val="30000"/>
              </a:srgbClr>
            </a:solidFill>
            <a:prstDash val="solid"/>
          </a:ln>
        </p:spPr>
        <p:txBody>
          <a:bodyPr/>
          <a:lstStyle/>
          <a:p>
            <a:endParaRPr lang="en-US"/>
          </a:p>
        </p:txBody>
      </p:sp>
      <p:sp>
        <p:nvSpPr>
          <p:cNvPr id="144" name="Shape 142"/>
          <p:cNvSpPr/>
          <p:nvPr/>
        </p:nvSpPr>
        <p:spPr>
          <a:xfrm>
            <a:off x="6217920" y="3657600"/>
            <a:ext cx="2011680" cy="0"/>
          </a:xfrm>
          <a:prstGeom prst="line">
            <a:avLst/>
          </a:prstGeom>
          <a:noFill/>
          <a:ln w="6350">
            <a:solidFill>
              <a:srgbClr val="60B6EE">
                <a:alpha val="30000"/>
              </a:srgbClr>
            </a:solidFill>
            <a:prstDash val="solid"/>
          </a:ln>
        </p:spPr>
        <p:txBody>
          <a:bodyPr/>
          <a:lstStyle/>
          <a:p>
            <a:endParaRPr lang="en-US"/>
          </a:p>
        </p:txBody>
      </p:sp>
      <p:sp>
        <p:nvSpPr>
          <p:cNvPr id="145" name="Shape 143"/>
          <p:cNvSpPr/>
          <p:nvPr/>
        </p:nvSpPr>
        <p:spPr>
          <a:xfrm>
            <a:off x="6492240" y="2286000"/>
            <a:ext cx="1371600" cy="1737360"/>
          </a:xfrm>
          <a:prstGeom prst="line">
            <a:avLst/>
          </a:prstGeom>
          <a:noFill/>
          <a:ln w="6350">
            <a:solidFill>
              <a:srgbClr val="60B6EE">
                <a:alpha val="30000"/>
              </a:srgbClr>
            </a:solidFill>
            <a:prstDash val="solid"/>
          </a:ln>
        </p:spPr>
        <p:txBody>
          <a:bodyPr/>
          <a:lstStyle/>
          <a:p>
            <a:endParaRPr lang="en-US"/>
          </a:p>
        </p:txBody>
      </p:sp>
      <p:sp>
        <p:nvSpPr>
          <p:cNvPr id="146" name="Shape 144"/>
          <p:cNvSpPr/>
          <p:nvPr/>
        </p:nvSpPr>
        <p:spPr>
          <a:xfrm>
            <a:off x="6355080" y="3291840"/>
            <a:ext cx="2148840" cy="0"/>
          </a:xfrm>
          <a:prstGeom prst="line">
            <a:avLst/>
          </a:prstGeom>
          <a:noFill/>
          <a:ln w="6350">
            <a:solidFill>
              <a:srgbClr val="60B6EE">
                <a:alpha val="30000"/>
              </a:srgbClr>
            </a:solidFill>
            <a:prstDash val="solid"/>
          </a:ln>
        </p:spPr>
        <p:txBody>
          <a:bodyPr/>
          <a:lstStyle/>
          <a:p>
            <a:endParaRPr lang="en-US"/>
          </a:p>
        </p:txBody>
      </p:sp>
      <p:sp>
        <p:nvSpPr>
          <p:cNvPr id="149" name="Shape 147"/>
          <p:cNvSpPr/>
          <p:nvPr/>
        </p:nvSpPr>
        <p:spPr>
          <a:xfrm>
            <a:off x="411480" y="1874520"/>
            <a:ext cx="548640" cy="45720"/>
          </a:xfrm>
          <a:prstGeom prst="rect">
            <a:avLst/>
          </a:prstGeom>
          <a:solidFill>
            <a:srgbClr val="59AFED"/>
          </a:solidFill>
          <a:ln w="12700">
            <a:solidFill>
              <a:srgbClr val="3DA8DD"/>
            </a:solidFill>
            <a:prstDash val="solid"/>
          </a:ln>
        </p:spPr>
        <p:txBody>
          <a:bodyPr/>
          <a:lstStyle/>
          <a:p>
            <a:endParaRPr lang="en-US">
              <a:latin typeface="Aptos" panose="020B0004020202020204" pitchFamily="34" charset="0"/>
            </a:endParaRPr>
          </a:p>
        </p:txBody>
      </p:sp>
      <p:sp>
        <p:nvSpPr>
          <p:cNvPr id="150" name="Text 148"/>
          <p:cNvSpPr/>
          <p:nvPr/>
        </p:nvSpPr>
        <p:spPr>
          <a:xfrm>
            <a:off x="411480" y="2057400"/>
            <a:ext cx="5486400" cy="777240"/>
          </a:xfrm>
          <a:prstGeom prst="rect">
            <a:avLst/>
          </a:prstGeom>
          <a:noFill/>
          <a:ln/>
        </p:spPr>
        <p:txBody>
          <a:bodyPr wrap="square" lIns="0" tIns="0" rIns="0" bIns="0" rtlCol="0" anchor="ctr"/>
          <a:lstStyle/>
          <a:p>
            <a:pPr marL="0" indent="0">
              <a:buNone/>
            </a:pPr>
            <a:r>
              <a:rPr lang="en-US" sz="4000" b="1" dirty="0">
                <a:solidFill>
                  <a:srgbClr val="FFFFFF"/>
                </a:solidFill>
                <a:latin typeface="Aptos" panose="020B0004020202020204" pitchFamily="34" charset="0"/>
                <a:ea typeface="Open Sans" pitchFamily="34" charset="-122"/>
                <a:cs typeface="Open Sans" pitchFamily="34" charset="-120"/>
              </a:rPr>
              <a:t>Investor Update</a:t>
            </a:r>
            <a:endParaRPr lang="en-US" sz="4000" dirty="0">
              <a:latin typeface="Aptos" panose="020B0004020202020204" pitchFamily="34" charset="0"/>
            </a:endParaRPr>
          </a:p>
        </p:txBody>
      </p:sp>
      <p:sp>
        <p:nvSpPr>
          <p:cNvPr id="151" name="Text 149"/>
          <p:cNvSpPr/>
          <p:nvPr/>
        </p:nvSpPr>
        <p:spPr>
          <a:xfrm>
            <a:off x="411480" y="2880360"/>
            <a:ext cx="5303520" cy="777240"/>
          </a:xfrm>
          <a:prstGeom prst="rect">
            <a:avLst/>
          </a:prstGeom>
          <a:noFill/>
          <a:ln/>
        </p:spPr>
        <p:txBody>
          <a:bodyPr wrap="square" lIns="0" tIns="0" rIns="0" bIns="0" rtlCol="0" anchor="t"/>
          <a:lstStyle/>
          <a:p>
            <a:pPr marL="0" indent="0">
              <a:buNone/>
            </a:pPr>
            <a:r>
              <a:rPr lang="en-US" sz="1600" dirty="0">
                <a:solidFill>
                  <a:srgbClr val="BFD2E4"/>
                </a:solidFill>
                <a:latin typeface="Aptos" panose="020B0004020202020204" pitchFamily="34" charset="0"/>
                <a:ea typeface="Open Sans" pitchFamily="34" charset="-122"/>
                <a:cs typeface="Open Sans" pitchFamily="34" charset="-120"/>
              </a:rPr>
              <a:t>Recent progress, clinical validation, and the near-term path forward.</a:t>
            </a:r>
            <a:endParaRPr lang="en-US" sz="1600" dirty="0">
              <a:latin typeface="Aptos" panose="020B0004020202020204" pitchFamily="34" charset="0"/>
            </a:endParaRPr>
          </a:p>
        </p:txBody>
      </p:sp>
      <p:sp>
        <p:nvSpPr>
          <p:cNvPr id="152" name="Shape 150"/>
          <p:cNvSpPr/>
          <p:nvPr/>
        </p:nvSpPr>
        <p:spPr>
          <a:xfrm>
            <a:off x="411480" y="4206240"/>
            <a:ext cx="36576" cy="411480"/>
          </a:xfrm>
          <a:prstGeom prst="rect">
            <a:avLst/>
          </a:prstGeom>
          <a:solidFill>
            <a:srgbClr val="59AFED"/>
          </a:solidFill>
          <a:ln w="12700">
            <a:solidFill>
              <a:srgbClr val="3DA8DD"/>
            </a:solidFill>
            <a:prstDash val="solid"/>
          </a:ln>
        </p:spPr>
        <p:txBody>
          <a:bodyPr/>
          <a:lstStyle/>
          <a:p>
            <a:endParaRPr lang="en-US">
              <a:latin typeface="Aptos" panose="020B0004020202020204" pitchFamily="34" charset="0"/>
            </a:endParaRPr>
          </a:p>
        </p:txBody>
      </p:sp>
      <p:sp>
        <p:nvSpPr>
          <p:cNvPr id="153" name="Text 151"/>
          <p:cNvSpPr/>
          <p:nvPr/>
        </p:nvSpPr>
        <p:spPr>
          <a:xfrm>
            <a:off x="566928" y="4247230"/>
            <a:ext cx="3657600" cy="502920"/>
          </a:xfrm>
          <a:prstGeom prst="rect">
            <a:avLst/>
          </a:prstGeom>
          <a:noFill/>
          <a:ln/>
        </p:spPr>
        <p:txBody>
          <a:bodyPr wrap="square" lIns="0" tIns="0" rIns="0" bIns="0" rtlCol="0" anchor="t"/>
          <a:lstStyle/>
          <a:p>
            <a:pPr marL="0" indent="0">
              <a:buNone/>
            </a:pPr>
            <a:r>
              <a:rPr lang="en-US" sz="1300" b="1" dirty="0">
                <a:solidFill>
                  <a:srgbClr val="FFFFFF"/>
                </a:solidFill>
                <a:latin typeface="Aptos" panose="020B0004020202020204" pitchFamily="34" charset="0"/>
                <a:ea typeface="Open Sans" pitchFamily="34" charset="-122"/>
                <a:cs typeface="Open Sans" pitchFamily="34" charset="-120"/>
              </a:rPr>
              <a:t>May 2026</a:t>
            </a:r>
            <a:endParaRPr lang="en-US" sz="1300" dirty="0">
              <a:latin typeface="Aptos" panose="020B0004020202020204" pitchFamily="34" charset="0"/>
            </a:endParaRPr>
          </a:p>
          <a:p>
            <a:pPr marL="0" indent="0">
              <a:buNone/>
            </a:pPr>
            <a:r>
              <a:rPr lang="en-US" sz="1000" dirty="0">
                <a:solidFill>
                  <a:srgbClr val="BFD2E4"/>
                </a:solidFill>
                <a:latin typeface="Aptos" panose="020B0004020202020204" pitchFamily="34" charset="0"/>
                <a:ea typeface="Open Sans" pitchFamily="34" charset="-122"/>
                <a:cs typeface="Open Sans" pitchFamily="34" charset="-120"/>
              </a:rPr>
              <a:t>CorVista Health · Confidential</a:t>
            </a:r>
            <a:endParaRPr lang="en-US" sz="1300" dirty="0">
              <a:latin typeface="Aptos" panose="020B0004020202020204" pitchFamily="34" charset="0"/>
            </a:endParaRPr>
          </a:p>
        </p:txBody>
      </p:sp>
      <p:pic>
        <p:nvPicPr>
          <p:cNvPr id="155" name="Picture 154">
            <a:extLst>
              <a:ext uri="{FF2B5EF4-FFF2-40B4-BE49-F238E27FC236}">
                <a16:creationId xmlns:a16="http://schemas.microsoft.com/office/drawing/2014/main" id="{5AE5CD9F-E361-A94C-EFD6-924B4FB35B6F}"/>
              </a:ext>
            </a:extLst>
          </p:cNvPr>
          <p:cNvPicPr>
            <a:picLocks noChangeAspect="1"/>
          </p:cNvPicPr>
          <p:nvPr/>
        </p:nvPicPr>
        <p:blipFill>
          <a:blip r:embed="rId3"/>
          <a:srcRect t="36395" b="34117"/>
          <a:stretch>
            <a:fillRect/>
          </a:stretch>
        </p:blipFill>
        <p:spPr>
          <a:xfrm>
            <a:off x="128017" y="457200"/>
            <a:ext cx="2688336" cy="7927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411480" y="320040"/>
            <a:ext cx="3657600" cy="228600"/>
          </a:xfrm>
          <a:prstGeom prst="rect">
            <a:avLst/>
          </a:prstGeom>
          <a:noFill/>
          <a:ln/>
        </p:spPr>
        <p:txBody>
          <a:bodyPr wrap="square" lIns="0" tIns="0" rIns="0" bIns="0" rtlCol="0" anchor="ctr"/>
          <a:lstStyle/>
          <a:p>
            <a:pPr marL="0" indent="0">
              <a:buNone/>
            </a:pPr>
            <a:r>
              <a:rPr lang="en-US" sz="1100" b="1" kern="0" spc="200" dirty="0">
                <a:solidFill>
                  <a:srgbClr val="3DA8DD"/>
                </a:solidFill>
                <a:latin typeface="Aptos" panose="020B0004020202020204" pitchFamily="34" charset="0"/>
                <a:ea typeface="Open Sans" pitchFamily="34" charset="-122"/>
                <a:cs typeface="Open Sans" pitchFamily="34" charset="-120"/>
              </a:rPr>
              <a:t>STRATEGIC PARTNERSHIP</a:t>
            </a:r>
            <a:endParaRPr lang="en-US" sz="1100" dirty="0">
              <a:latin typeface="Aptos" panose="020B0004020202020204" pitchFamily="34" charset="0"/>
            </a:endParaRPr>
          </a:p>
        </p:txBody>
      </p:sp>
      <p:sp>
        <p:nvSpPr>
          <p:cNvPr id="3" name="Shape 1"/>
          <p:cNvSpPr/>
          <p:nvPr/>
        </p:nvSpPr>
        <p:spPr>
          <a:xfrm>
            <a:off x="411480" y="566928"/>
            <a:ext cx="457200" cy="36576"/>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4" name="Text 2"/>
          <p:cNvSpPr/>
          <p:nvPr/>
        </p:nvSpPr>
        <p:spPr>
          <a:xfrm>
            <a:off x="411480" y="713232"/>
            <a:ext cx="8321040" cy="914400"/>
          </a:xfrm>
          <a:prstGeom prst="rect">
            <a:avLst/>
          </a:prstGeom>
          <a:noFill/>
          <a:ln/>
        </p:spPr>
        <p:txBody>
          <a:bodyPr wrap="square" lIns="0" tIns="0" rIns="0" bIns="0" rtlCol="0" anchor="t"/>
          <a:lstStyle/>
          <a:p>
            <a:pPr marL="0" indent="0">
              <a:buNone/>
            </a:pPr>
            <a:r>
              <a:rPr lang="en-US" sz="2400" b="1" dirty="0">
                <a:solidFill>
                  <a:srgbClr val="0E2841"/>
                </a:solidFill>
                <a:latin typeface="Aptos" panose="020B0004020202020204" pitchFamily="34" charset="0"/>
                <a:ea typeface="Open Sans" pitchFamily="34" charset="-122"/>
                <a:cs typeface="Open Sans" pitchFamily="34" charset="-120"/>
              </a:rPr>
              <a:t>Mayo Clinic collaboration in pulmonary hypertension</a:t>
            </a:r>
            <a:endParaRPr lang="en-US" sz="2400" dirty="0">
              <a:latin typeface="Aptos" panose="020B0004020202020204" pitchFamily="34" charset="0"/>
            </a:endParaRPr>
          </a:p>
        </p:txBody>
      </p:sp>
      <p:sp>
        <p:nvSpPr>
          <p:cNvPr id="5" name="Text 3"/>
          <p:cNvSpPr/>
          <p:nvPr/>
        </p:nvSpPr>
        <p:spPr>
          <a:xfrm>
            <a:off x="411480" y="1379830"/>
            <a:ext cx="8321040" cy="548640"/>
          </a:xfrm>
          <a:prstGeom prst="rect">
            <a:avLst/>
          </a:prstGeom>
          <a:noFill/>
          <a:ln/>
        </p:spPr>
        <p:txBody>
          <a:bodyPr wrap="square" lIns="0" tIns="0" rIns="0" bIns="0" rtlCol="0" anchor="t"/>
          <a:lstStyle/>
          <a:p>
            <a:pPr marL="0" indent="0">
              <a:buNone/>
            </a:pPr>
            <a:r>
              <a:rPr lang="en-US" sz="1300" dirty="0">
                <a:solidFill>
                  <a:srgbClr val="1F2A37"/>
                </a:solidFill>
                <a:latin typeface="Aptos" panose="020B0004020202020204" pitchFamily="34" charset="0"/>
                <a:ea typeface="Open Sans" pitchFamily="34" charset="-122"/>
                <a:cs typeface="Open Sans" pitchFamily="34" charset="-120"/>
              </a:rPr>
              <a:t>Pairing the FDA-cleared CorVista-PH test with Mayo Clinic's cardiopulmonary research expertise to evaluate detection, risk stratification, and referral accuracy.</a:t>
            </a:r>
            <a:endParaRPr lang="en-US" sz="1300" dirty="0">
              <a:latin typeface="Aptos" panose="020B0004020202020204" pitchFamily="34" charset="0"/>
            </a:endParaRPr>
          </a:p>
        </p:txBody>
      </p:sp>
      <p:sp>
        <p:nvSpPr>
          <p:cNvPr id="6" name="Text 4"/>
          <p:cNvSpPr/>
          <p:nvPr/>
        </p:nvSpPr>
        <p:spPr>
          <a:xfrm>
            <a:off x="411480" y="2113179"/>
            <a:ext cx="1943100" cy="640080"/>
          </a:xfrm>
          <a:prstGeom prst="rect">
            <a:avLst/>
          </a:prstGeom>
          <a:noFill/>
          <a:ln/>
        </p:spPr>
        <p:txBody>
          <a:bodyPr wrap="square" lIns="0" tIns="0" rIns="0" bIns="0" rtlCol="0" anchor="t"/>
          <a:lstStyle/>
          <a:p>
            <a:pPr marL="0" indent="0">
              <a:buNone/>
            </a:pPr>
            <a:r>
              <a:rPr lang="en-US" sz="3400" b="1" dirty="0">
                <a:solidFill>
                  <a:srgbClr val="3DA8DD"/>
                </a:solidFill>
                <a:latin typeface="Aptos" panose="020B0004020202020204" pitchFamily="34" charset="0"/>
                <a:ea typeface="Open Sans" pitchFamily="34" charset="-122"/>
                <a:cs typeface="Open Sans" pitchFamily="34" charset="-120"/>
              </a:rPr>
              <a:t>Apr 28</a:t>
            </a:r>
            <a:endParaRPr lang="en-US" sz="3400" dirty="0">
              <a:latin typeface="Aptos" panose="020B0004020202020204" pitchFamily="34" charset="0"/>
            </a:endParaRPr>
          </a:p>
        </p:txBody>
      </p:sp>
      <p:sp>
        <p:nvSpPr>
          <p:cNvPr id="7" name="Text 5"/>
          <p:cNvSpPr/>
          <p:nvPr/>
        </p:nvSpPr>
        <p:spPr>
          <a:xfrm>
            <a:off x="411480" y="2753259"/>
            <a:ext cx="1943100" cy="292608"/>
          </a:xfrm>
          <a:prstGeom prst="rect">
            <a:avLst/>
          </a:prstGeom>
          <a:noFill/>
          <a:ln/>
        </p:spPr>
        <p:txBody>
          <a:bodyPr wrap="square" lIns="0" tIns="0" rIns="0" bIns="0" rtlCol="0" anchor="t"/>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Collaboration announced</a:t>
            </a:r>
            <a:endParaRPr lang="en-US" sz="1200" dirty="0">
              <a:latin typeface="Aptos" panose="020B0004020202020204" pitchFamily="34" charset="0"/>
            </a:endParaRPr>
          </a:p>
        </p:txBody>
      </p:sp>
      <p:sp>
        <p:nvSpPr>
          <p:cNvPr id="8" name="Text 6"/>
          <p:cNvSpPr/>
          <p:nvPr/>
        </p:nvSpPr>
        <p:spPr>
          <a:xfrm>
            <a:off x="411480" y="3073299"/>
            <a:ext cx="1943100" cy="502920"/>
          </a:xfrm>
          <a:prstGeom prst="rect">
            <a:avLst/>
          </a:prstGeom>
          <a:noFill/>
          <a:ln/>
        </p:spPr>
        <p:txBody>
          <a:bodyPr wrap="square" lIns="0" tIns="0" rIns="0" bIns="0" rtlCol="0" anchor="t"/>
          <a:lstStyle/>
          <a:p>
            <a:pPr marL="0" indent="0">
              <a:buNone/>
            </a:pPr>
            <a:r>
              <a:rPr lang="en-US" sz="1050" dirty="0">
                <a:solidFill>
                  <a:srgbClr val="5B6B7F"/>
                </a:solidFill>
                <a:latin typeface="Aptos" panose="020B0004020202020204" pitchFamily="34" charset="0"/>
                <a:ea typeface="Open Sans" pitchFamily="34" charset="-122"/>
                <a:cs typeface="Open Sans" pitchFamily="34" charset="-120"/>
              </a:rPr>
              <a:t>Prospective observational study</a:t>
            </a:r>
            <a:endParaRPr lang="en-US" sz="1050" dirty="0">
              <a:latin typeface="Aptos" panose="020B0004020202020204" pitchFamily="34" charset="0"/>
            </a:endParaRPr>
          </a:p>
        </p:txBody>
      </p:sp>
      <p:sp>
        <p:nvSpPr>
          <p:cNvPr id="9" name="Text 7"/>
          <p:cNvSpPr/>
          <p:nvPr/>
        </p:nvSpPr>
        <p:spPr>
          <a:xfrm>
            <a:off x="2491740" y="2113179"/>
            <a:ext cx="1943100" cy="640080"/>
          </a:xfrm>
          <a:prstGeom prst="rect">
            <a:avLst/>
          </a:prstGeom>
          <a:noFill/>
          <a:ln/>
        </p:spPr>
        <p:txBody>
          <a:bodyPr wrap="square" lIns="0" tIns="0" rIns="0" bIns="0" rtlCol="0" anchor="t"/>
          <a:lstStyle/>
          <a:p>
            <a:pPr marL="0" indent="0">
              <a:buNone/>
            </a:pPr>
            <a:r>
              <a:rPr lang="en-US" sz="3400" b="1" dirty="0">
                <a:solidFill>
                  <a:srgbClr val="3DA8DD"/>
                </a:solidFill>
                <a:latin typeface="Aptos" panose="020B0004020202020204" pitchFamily="34" charset="0"/>
                <a:ea typeface="Open Sans" pitchFamily="34" charset="-122"/>
                <a:cs typeface="Open Sans" pitchFamily="34" charset="-120"/>
              </a:rPr>
              <a:t>~1%</a:t>
            </a:r>
            <a:endParaRPr lang="en-US" sz="3400" dirty="0">
              <a:latin typeface="Aptos" panose="020B0004020202020204" pitchFamily="34" charset="0"/>
            </a:endParaRPr>
          </a:p>
        </p:txBody>
      </p:sp>
      <p:sp>
        <p:nvSpPr>
          <p:cNvPr id="10" name="Text 8"/>
          <p:cNvSpPr/>
          <p:nvPr/>
        </p:nvSpPr>
        <p:spPr>
          <a:xfrm>
            <a:off x="2491740" y="2753259"/>
            <a:ext cx="1943100" cy="292608"/>
          </a:xfrm>
          <a:prstGeom prst="rect">
            <a:avLst/>
          </a:prstGeom>
          <a:noFill/>
          <a:ln/>
        </p:spPr>
        <p:txBody>
          <a:bodyPr wrap="square" lIns="0" tIns="0" rIns="0" bIns="0" rtlCol="0" anchor="t"/>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Global prevalence of PH</a:t>
            </a:r>
            <a:endParaRPr lang="en-US" sz="1200" dirty="0">
              <a:latin typeface="Aptos" panose="020B0004020202020204" pitchFamily="34" charset="0"/>
            </a:endParaRPr>
          </a:p>
        </p:txBody>
      </p:sp>
      <p:sp>
        <p:nvSpPr>
          <p:cNvPr id="11" name="Text 9"/>
          <p:cNvSpPr/>
          <p:nvPr/>
        </p:nvSpPr>
        <p:spPr>
          <a:xfrm>
            <a:off x="2491740" y="3073299"/>
            <a:ext cx="1943100" cy="502920"/>
          </a:xfrm>
          <a:prstGeom prst="rect">
            <a:avLst/>
          </a:prstGeom>
          <a:noFill/>
          <a:ln/>
        </p:spPr>
        <p:txBody>
          <a:bodyPr wrap="square" lIns="0" tIns="0" rIns="0" bIns="0" rtlCol="0" anchor="t"/>
          <a:lstStyle/>
          <a:p>
            <a:pPr marL="0" indent="0">
              <a:buNone/>
            </a:pPr>
            <a:r>
              <a:rPr lang="en-US" sz="1050" dirty="0">
                <a:solidFill>
                  <a:srgbClr val="5B6B7F"/>
                </a:solidFill>
                <a:latin typeface="Aptos" panose="020B0004020202020204" pitchFamily="34" charset="0"/>
                <a:ea typeface="Open Sans" pitchFamily="34" charset="-122"/>
                <a:cs typeface="Open Sans" pitchFamily="34" charset="-120"/>
              </a:rPr>
              <a:t>Frequently underdiagnosed</a:t>
            </a:r>
            <a:endParaRPr lang="en-US" sz="1050" dirty="0">
              <a:latin typeface="Aptos" panose="020B0004020202020204" pitchFamily="34" charset="0"/>
            </a:endParaRPr>
          </a:p>
        </p:txBody>
      </p:sp>
      <p:sp>
        <p:nvSpPr>
          <p:cNvPr id="12" name="Text 10"/>
          <p:cNvSpPr/>
          <p:nvPr/>
        </p:nvSpPr>
        <p:spPr>
          <a:xfrm>
            <a:off x="4572000" y="2113179"/>
            <a:ext cx="1943100" cy="640080"/>
          </a:xfrm>
          <a:prstGeom prst="rect">
            <a:avLst/>
          </a:prstGeom>
          <a:noFill/>
          <a:ln/>
        </p:spPr>
        <p:txBody>
          <a:bodyPr wrap="square" lIns="0" tIns="0" rIns="0" bIns="0" rtlCol="0" anchor="t"/>
          <a:lstStyle/>
          <a:p>
            <a:pPr marL="0" indent="0">
              <a:buNone/>
            </a:pPr>
            <a:r>
              <a:rPr lang="en-US" sz="3400" b="1" dirty="0">
                <a:solidFill>
                  <a:srgbClr val="3DA8DD"/>
                </a:solidFill>
                <a:latin typeface="Aptos" panose="020B0004020202020204" pitchFamily="34" charset="0"/>
                <a:ea typeface="Open Sans" pitchFamily="34" charset="-122"/>
                <a:cs typeface="Open Sans" pitchFamily="34" charset="-120"/>
              </a:rPr>
              <a:t>2.3 yrs</a:t>
            </a:r>
            <a:endParaRPr lang="en-US" sz="3400" dirty="0">
              <a:latin typeface="Aptos" panose="020B0004020202020204" pitchFamily="34" charset="0"/>
            </a:endParaRPr>
          </a:p>
        </p:txBody>
      </p:sp>
      <p:sp>
        <p:nvSpPr>
          <p:cNvPr id="13" name="Text 11"/>
          <p:cNvSpPr/>
          <p:nvPr/>
        </p:nvSpPr>
        <p:spPr>
          <a:xfrm>
            <a:off x="4572000" y="2753259"/>
            <a:ext cx="1943100" cy="292608"/>
          </a:xfrm>
          <a:prstGeom prst="rect">
            <a:avLst/>
          </a:prstGeom>
          <a:noFill/>
          <a:ln/>
        </p:spPr>
        <p:txBody>
          <a:bodyPr wrap="square" lIns="0" tIns="0" rIns="0" bIns="0" rtlCol="0" anchor="t"/>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Avg. time to diagnosis</a:t>
            </a:r>
            <a:endParaRPr lang="en-US" sz="1200" dirty="0">
              <a:latin typeface="Aptos" panose="020B0004020202020204" pitchFamily="34" charset="0"/>
            </a:endParaRPr>
          </a:p>
        </p:txBody>
      </p:sp>
      <p:sp>
        <p:nvSpPr>
          <p:cNvPr id="14" name="Text 12"/>
          <p:cNvSpPr/>
          <p:nvPr/>
        </p:nvSpPr>
        <p:spPr>
          <a:xfrm>
            <a:off x="4572000" y="3073299"/>
            <a:ext cx="1943100" cy="502920"/>
          </a:xfrm>
          <a:prstGeom prst="rect">
            <a:avLst/>
          </a:prstGeom>
          <a:noFill/>
          <a:ln/>
        </p:spPr>
        <p:txBody>
          <a:bodyPr wrap="square" lIns="0" tIns="0" rIns="0" bIns="0" rtlCol="0" anchor="t"/>
          <a:lstStyle/>
          <a:p>
            <a:pPr marL="0" indent="0">
              <a:buNone/>
            </a:pPr>
            <a:r>
              <a:rPr lang="en-US" sz="1050" dirty="0">
                <a:solidFill>
                  <a:srgbClr val="5B6B7F"/>
                </a:solidFill>
                <a:latin typeface="Aptos" panose="020B0004020202020204" pitchFamily="34" charset="0"/>
                <a:ea typeface="Open Sans" pitchFamily="34" charset="-122"/>
                <a:cs typeface="Open Sans" pitchFamily="34" charset="-120"/>
              </a:rPr>
              <a:t>From symptom onset to PH diagnosis</a:t>
            </a:r>
            <a:endParaRPr lang="en-US" sz="1050" dirty="0">
              <a:latin typeface="Aptos" panose="020B0004020202020204" pitchFamily="34" charset="0"/>
            </a:endParaRPr>
          </a:p>
        </p:txBody>
      </p:sp>
      <p:sp>
        <p:nvSpPr>
          <p:cNvPr id="15" name="Text 13"/>
          <p:cNvSpPr/>
          <p:nvPr/>
        </p:nvSpPr>
        <p:spPr>
          <a:xfrm>
            <a:off x="6652260" y="2113179"/>
            <a:ext cx="1943100" cy="640080"/>
          </a:xfrm>
          <a:prstGeom prst="rect">
            <a:avLst/>
          </a:prstGeom>
          <a:noFill/>
          <a:ln/>
        </p:spPr>
        <p:txBody>
          <a:bodyPr wrap="square" lIns="0" tIns="0" rIns="0" bIns="0" rtlCol="0" anchor="t"/>
          <a:lstStyle/>
          <a:p>
            <a:pPr marL="0" indent="0">
              <a:buNone/>
            </a:pPr>
            <a:r>
              <a:rPr lang="en-US" sz="3400" b="1" dirty="0">
                <a:solidFill>
                  <a:srgbClr val="3DA8DD"/>
                </a:solidFill>
                <a:latin typeface="Aptos" panose="020B0004020202020204" pitchFamily="34" charset="0"/>
                <a:ea typeface="Open Sans" pitchFamily="34" charset="-122"/>
                <a:cs typeface="Open Sans" pitchFamily="34" charset="-120"/>
              </a:rPr>
              <a:t>2</a:t>
            </a:r>
            <a:endParaRPr lang="en-US" sz="3400" dirty="0">
              <a:latin typeface="Aptos" panose="020B0004020202020204" pitchFamily="34" charset="0"/>
            </a:endParaRPr>
          </a:p>
        </p:txBody>
      </p:sp>
      <p:sp>
        <p:nvSpPr>
          <p:cNvPr id="16" name="Text 14"/>
          <p:cNvSpPr/>
          <p:nvPr/>
        </p:nvSpPr>
        <p:spPr>
          <a:xfrm>
            <a:off x="6652260" y="2753259"/>
            <a:ext cx="1943100" cy="292608"/>
          </a:xfrm>
          <a:prstGeom prst="rect">
            <a:avLst/>
          </a:prstGeom>
          <a:noFill/>
          <a:ln/>
        </p:spPr>
        <p:txBody>
          <a:bodyPr wrap="square" lIns="0" tIns="0" rIns="0" bIns="0" rtlCol="0" anchor="t"/>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Avg. hospitalizations</a:t>
            </a:r>
            <a:endParaRPr lang="en-US" sz="1200" dirty="0">
              <a:latin typeface="Aptos" panose="020B0004020202020204" pitchFamily="34" charset="0"/>
            </a:endParaRPr>
          </a:p>
        </p:txBody>
      </p:sp>
      <p:sp>
        <p:nvSpPr>
          <p:cNvPr id="17" name="Text 15"/>
          <p:cNvSpPr/>
          <p:nvPr/>
        </p:nvSpPr>
        <p:spPr>
          <a:xfrm>
            <a:off x="6652260" y="3073299"/>
            <a:ext cx="1943100" cy="502920"/>
          </a:xfrm>
          <a:prstGeom prst="rect">
            <a:avLst/>
          </a:prstGeom>
          <a:noFill/>
          <a:ln/>
        </p:spPr>
        <p:txBody>
          <a:bodyPr wrap="square" lIns="0" tIns="0" rIns="0" bIns="0" rtlCol="0" anchor="t"/>
          <a:lstStyle/>
          <a:p>
            <a:pPr marL="0" indent="0">
              <a:buNone/>
            </a:pPr>
            <a:r>
              <a:rPr lang="en-US" sz="1050" dirty="0">
                <a:solidFill>
                  <a:srgbClr val="5B6B7F"/>
                </a:solidFill>
                <a:latin typeface="Aptos" panose="020B0004020202020204" pitchFamily="34" charset="0"/>
                <a:ea typeface="Open Sans" pitchFamily="34" charset="-122"/>
                <a:cs typeface="Open Sans" pitchFamily="34" charset="-120"/>
              </a:rPr>
              <a:t>Prior to PH diagnosis</a:t>
            </a:r>
            <a:endParaRPr lang="en-US" sz="1050" dirty="0">
              <a:latin typeface="Aptos" panose="020B0004020202020204" pitchFamily="34" charset="0"/>
            </a:endParaRPr>
          </a:p>
        </p:txBody>
      </p:sp>
      <p:sp>
        <p:nvSpPr>
          <p:cNvPr id="18" name="Shape 16"/>
          <p:cNvSpPr/>
          <p:nvPr/>
        </p:nvSpPr>
        <p:spPr>
          <a:xfrm>
            <a:off x="411480" y="3831336"/>
            <a:ext cx="8321040" cy="749808"/>
          </a:xfrm>
          <a:prstGeom prst="rect">
            <a:avLst/>
          </a:prstGeom>
          <a:solidFill>
            <a:srgbClr val="0B2A4A"/>
          </a:solidFill>
          <a:ln w="12700">
            <a:solidFill>
              <a:srgbClr val="0B2A4A"/>
            </a:solidFill>
            <a:prstDash val="solid"/>
          </a:ln>
        </p:spPr>
        <p:txBody>
          <a:bodyPr/>
          <a:lstStyle/>
          <a:p>
            <a:endParaRPr lang="en-US">
              <a:latin typeface="Aptos" panose="020B0004020202020204" pitchFamily="34" charset="0"/>
            </a:endParaRPr>
          </a:p>
        </p:txBody>
      </p:sp>
      <p:sp>
        <p:nvSpPr>
          <p:cNvPr id="19" name="Text 17"/>
          <p:cNvSpPr/>
          <p:nvPr/>
        </p:nvSpPr>
        <p:spPr>
          <a:xfrm>
            <a:off x="640080" y="3831336"/>
            <a:ext cx="7863840" cy="749808"/>
          </a:xfrm>
          <a:prstGeom prst="rect">
            <a:avLst/>
          </a:prstGeom>
          <a:noFill/>
          <a:ln/>
        </p:spPr>
        <p:txBody>
          <a:bodyPr wrap="square" lIns="0" tIns="0" rIns="0" bIns="0" rtlCol="0" anchor="ctr"/>
          <a:lstStyle/>
          <a:p>
            <a:pPr marL="0" indent="0">
              <a:buNone/>
            </a:pPr>
            <a:r>
              <a:rPr lang="en-US" sz="1200" b="1" dirty="0">
                <a:solidFill>
                  <a:srgbClr val="FFFFFF"/>
                </a:solidFill>
                <a:latin typeface="Aptos" panose="020B0004020202020204" pitchFamily="34" charset="0"/>
                <a:ea typeface="Open Sans" pitchFamily="34" charset="-122"/>
                <a:cs typeface="Open Sans" pitchFamily="34" charset="-120"/>
              </a:rPr>
              <a:t>Why it matters: </a:t>
            </a:r>
            <a:r>
              <a:rPr lang="en-US" sz="1200" dirty="0">
                <a:solidFill>
                  <a:srgbClr val="FFFFFF"/>
                </a:solidFill>
                <a:latin typeface="Aptos" panose="020B0004020202020204" pitchFamily="34" charset="0"/>
                <a:ea typeface="Open Sans" pitchFamily="34" charset="-122"/>
                <a:cs typeface="Open Sans" pitchFamily="34" charset="-120"/>
              </a:rPr>
              <a:t>third-party validation from a premier institution accelerates the path to broader clinical adoption </a:t>
            </a:r>
            <a:r>
              <a:rPr lang="en-US" sz="1200" b="1" dirty="0">
                <a:solidFill>
                  <a:srgbClr val="F5C443"/>
                </a:solidFill>
                <a:latin typeface="Aptos" panose="020B0004020202020204" pitchFamily="34" charset="0"/>
                <a:ea typeface="Open Sans" pitchFamily="34" charset="-122"/>
                <a:cs typeface="Open Sans" pitchFamily="34" charset="-120"/>
              </a:rPr>
              <a:t>of the CorVista-PH test.</a:t>
            </a:r>
            <a:endParaRPr lang="en-US" sz="1200" dirty="0">
              <a:latin typeface="Aptos" panose="020B0004020202020204" pitchFamily="34" charset="0"/>
            </a:endParaRPr>
          </a:p>
        </p:txBody>
      </p:sp>
      <p:sp>
        <p:nvSpPr>
          <p:cNvPr id="20" name="Shape 18"/>
          <p:cNvSpPr/>
          <p:nvPr/>
        </p:nvSpPr>
        <p:spPr>
          <a:xfrm>
            <a:off x="365760" y="4736592"/>
            <a:ext cx="8412480" cy="10973"/>
          </a:xfrm>
          <a:prstGeom prst="rect">
            <a:avLst/>
          </a:prstGeom>
          <a:solidFill>
            <a:srgbClr val="DDE2E7"/>
          </a:solidFill>
          <a:ln w="12700">
            <a:solidFill>
              <a:srgbClr val="DDE2E7"/>
            </a:solidFill>
            <a:prstDash val="solid"/>
          </a:ln>
        </p:spPr>
        <p:txBody>
          <a:bodyPr/>
          <a:lstStyle/>
          <a:p>
            <a:endParaRPr lang="en-US">
              <a:latin typeface="Aptos" panose="020B0004020202020204" pitchFamily="34" charset="0"/>
            </a:endParaRPr>
          </a:p>
        </p:txBody>
      </p:sp>
      <p:sp>
        <p:nvSpPr>
          <p:cNvPr id="21" name="Text 19"/>
          <p:cNvSpPr/>
          <p:nvPr/>
        </p:nvSpPr>
        <p:spPr>
          <a:xfrm>
            <a:off x="365760" y="4800600"/>
            <a:ext cx="365760" cy="274320"/>
          </a:xfrm>
          <a:prstGeom prst="rect">
            <a:avLst/>
          </a:prstGeom>
          <a:noFill/>
          <a:ln/>
        </p:spPr>
        <p:txBody>
          <a:bodyPr wrap="square" lIns="0" tIns="0" rIns="0" bIns="0" rtlCol="0" anchor="ctr"/>
          <a:lstStyle/>
          <a:p>
            <a:pPr marL="0" indent="0">
              <a:buNone/>
            </a:pPr>
            <a:r>
              <a:rPr lang="en-US" sz="900" dirty="0">
                <a:solidFill>
                  <a:srgbClr val="5B6B7F"/>
                </a:solidFill>
                <a:latin typeface="Aptos" panose="020B0004020202020204" pitchFamily="34" charset="0"/>
                <a:ea typeface="Open Sans" pitchFamily="34" charset="-122"/>
                <a:cs typeface="Open Sans" pitchFamily="34" charset="-120"/>
              </a:rPr>
              <a:t>2</a:t>
            </a:r>
            <a:endParaRPr lang="en-US" sz="900" dirty="0">
              <a:latin typeface="Aptos" panose="020B0004020202020204" pitchFamily="34" charset="0"/>
            </a:endParaRPr>
          </a:p>
        </p:txBody>
      </p:sp>
      <p:pic>
        <p:nvPicPr>
          <p:cNvPr id="23" name="Image 0" descr="/mnt/data/cvh_unzip/ppt/media/image1.png">
            <a:extLst>
              <a:ext uri="{FF2B5EF4-FFF2-40B4-BE49-F238E27FC236}">
                <a16:creationId xmlns:a16="http://schemas.microsoft.com/office/drawing/2014/main" id="{156D25C0-C842-1548-6D90-0B27DB5472EA}"/>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745908" y="4856278"/>
            <a:ext cx="1234440" cy="162963"/>
          </a:xfrm>
          <a:prstGeom prst="rect">
            <a:avLst/>
          </a:prstGeom>
        </p:spPr>
      </p:pic>
    </p:spTree>
    <p:extLst>
      <p:ext uri="{BB962C8B-B14F-4D97-AF65-F5344CB8AC3E}">
        <p14:creationId xmlns:p14="http://schemas.microsoft.com/office/powerpoint/2010/main" val="389345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411480" y="320040"/>
            <a:ext cx="3657600" cy="228600"/>
          </a:xfrm>
          <a:prstGeom prst="rect">
            <a:avLst/>
          </a:prstGeom>
          <a:noFill/>
          <a:ln/>
        </p:spPr>
        <p:txBody>
          <a:bodyPr wrap="square" lIns="0" tIns="0" rIns="0" bIns="0" rtlCol="0" anchor="ctr"/>
          <a:lstStyle/>
          <a:p>
            <a:pPr marL="0" indent="0">
              <a:buNone/>
            </a:pPr>
            <a:r>
              <a:rPr lang="en-US" sz="1100" b="1" kern="0" spc="200" dirty="0">
                <a:solidFill>
                  <a:srgbClr val="3DA8DD"/>
                </a:solidFill>
                <a:latin typeface="Aptos" panose="020B0004020202020204" pitchFamily="34" charset="0"/>
                <a:ea typeface="Open Sans" pitchFamily="34" charset="-122"/>
                <a:cs typeface="Open Sans" pitchFamily="34" charset="-120"/>
              </a:rPr>
              <a:t>CLINICAL EVIDENCE</a:t>
            </a:r>
            <a:endParaRPr lang="en-US" sz="1100" dirty="0">
              <a:latin typeface="Aptos" panose="020B0004020202020204" pitchFamily="34" charset="0"/>
            </a:endParaRPr>
          </a:p>
        </p:txBody>
      </p:sp>
      <p:sp>
        <p:nvSpPr>
          <p:cNvPr id="3" name="Shape 1"/>
          <p:cNvSpPr/>
          <p:nvPr/>
        </p:nvSpPr>
        <p:spPr>
          <a:xfrm>
            <a:off x="411480" y="566928"/>
            <a:ext cx="457200" cy="36576"/>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4" name="Text 2"/>
          <p:cNvSpPr/>
          <p:nvPr/>
        </p:nvSpPr>
        <p:spPr>
          <a:xfrm>
            <a:off x="411480" y="713232"/>
            <a:ext cx="8321040" cy="548640"/>
          </a:xfrm>
          <a:prstGeom prst="rect">
            <a:avLst/>
          </a:prstGeom>
          <a:noFill/>
          <a:ln/>
        </p:spPr>
        <p:txBody>
          <a:bodyPr wrap="square" lIns="0" tIns="0" rIns="0" bIns="0" rtlCol="0" anchor="t"/>
          <a:lstStyle/>
          <a:p>
            <a:pPr marL="0" indent="0">
              <a:buNone/>
            </a:pPr>
            <a:r>
              <a:rPr lang="en-US" sz="2400" b="1" dirty="0">
                <a:solidFill>
                  <a:srgbClr val="0E2841"/>
                </a:solidFill>
                <a:latin typeface="Aptos" panose="020B0004020202020204" pitchFamily="34" charset="0"/>
                <a:ea typeface="Open Sans" pitchFamily="34" charset="-122"/>
                <a:cs typeface="Open Sans" pitchFamily="34" charset="-120"/>
              </a:rPr>
              <a:t>ACC.26: noninvasive ischemia detection</a:t>
            </a:r>
            <a:endParaRPr lang="en-US" sz="2400" dirty="0">
              <a:latin typeface="Aptos" panose="020B0004020202020204" pitchFamily="34" charset="0"/>
            </a:endParaRPr>
          </a:p>
        </p:txBody>
      </p:sp>
      <p:sp>
        <p:nvSpPr>
          <p:cNvPr id="5" name="Text 3"/>
          <p:cNvSpPr/>
          <p:nvPr/>
        </p:nvSpPr>
        <p:spPr>
          <a:xfrm>
            <a:off x="411480" y="1417320"/>
            <a:ext cx="8321040" cy="502920"/>
          </a:xfrm>
          <a:prstGeom prst="rect">
            <a:avLst/>
          </a:prstGeom>
          <a:noFill/>
          <a:ln/>
        </p:spPr>
        <p:txBody>
          <a:bodyPr wrap="square" lIns="0" tIns="0" rIns="0" bIns="0" rtlCol="0" anchor="t"/>
          <a:lstStyle/>
          <a:p>
            <a:pPr marL="0" indent="0">
              <a:buNone/>
            </a:pPr>
            <a:r>
              <a:rPr lang="en-US" sz="1300" dirty="0">
                <a:solidFill>
                  <a:srgbClr val="1F2A37"/>
                </a:solidFill>
                <a:latin typeface="Aptos" panose="020B0004020202020204" pitchFamily="34" charset="0"/>
                <a:ea typeface="Open Sans" pitchFamily="34" charset="-122"/>
                <a:cs typeface="Open Sans" pitchFamily="34" charset="-120"/>
              </a:rPr>
              <a:t>Machine-learned physiologic-signal model presented March 28–30, 2026 — American College of Cardiology Annual Scientific Session, New Orleans.</a:t>
            </a:r>
            <a:endParaRPr lang="en-US" sz="1300" dirty="0">
              <a:latin typeface="Aptos" panose="020B0004020202020204" pitchFamily="34" charset="0"/>
            </a:endParaRPr>
          </a:p>
        </p:txBody>
      </p:sp>
      <p:sp>
        <p:nvSpPr>
          <p:cNvPr id="6" name="Shape 4"/>
          <p:cNvSpPr/>
          <p:nvPr/>
        </p:nvSpPr>
        <p:spPr>
          <a:xfrm>
            <a:off x="411480" y="2057400"/>
            <a:ext cx="2651760" cy="2514600"/>
          </a:xfrm>
          <a:prstGeom prst="rect">
            <a:avLst/>
          </a:prstGeom>
          <a:solidFill>
            <a:srgbClr val="0B2A4A"/>
          </a:solidFill>
          <a:ln w="12700">
            <a:solidFill>
              <a:srgbClr val="0B2A4A"/>
            </a:solidFill>
            <a:prstDash val="solid"/>
          </a:ln>
        </p:spPr>
        <p:txBody>
          <a:bodyPr/>
          <a:lstStyle/>
          <a:p>
            <a:endParaRPr lang="en-US">
              <a:latin typeface="Aptos" panose="020B0004020202020204" pitchFamily="34" charset="0"/>
            </a:endParaRPr>
          </a:p>
        </p:txBody>
      </p:sp>
      <p:sp>
        <p:nvSpPr>
          <p:cNvPr id="7" name="Shape 5"/>
          <p:cNvSpPr/>
          <p:nvPr/>
        </p:nvSpPr>
        <p:spPr>
          <a:xfrm>
            <a:off x="411480" y="2057400"/>
            <a:ext cx="2651760" cy="73152"/>
          </a:xfrm>
          <a:prstGeom prst="rect">
            <a:avLst/>
          </a:prstGeom>
          <a:solidFill>
            <a:srgbClr val="60B6EE"/>
          </a:solidFill>
          <a:ln w="12700">
            <a:solidFill>
              <a:srgbClr val="60B6EE"/>
            </a:solidFill>
            <a:prstDash val="solid"/>
          </a:ln>
        </p:spPr>
        <p:txBody>
          <a:bodyPr/>
          <a:lstStyle/>
          <a:p>
            <a:endParaRPr lang="en-US">
              <a:latin typeface="Aptos" panose="020B0004020202020204" pitchFamily="34" charset="0"/>
            </a:endParaRPr>
          </a:p>
        </p:txBody>
      </p:sp>
      <p:sp>
        <p:nvSpPr>
          <p:cNvPr id="8" name="Text 6"/>
          <p:cNvSpPr/>
          <p:nvPr/>
        </p:nvSpPr>
        <p:spPr>
          <a:xfrm>
            <a:off x="612648" y="2240280"/>
            <a:ext cx="2286000" cy="320040"/>
          </a:xfrm>
          <a:prstGeom prst="rect">
            <a:avLst/>
          </a:prstGeom>
          <a:noFill/>
          <a:ln/>
        </p:spPr>
        <p:txBody>
          <a:bodyPr wrap="square" lIns="0" tIns="0" rIns="0" bIns="0" rtlCol="0" anchor="t"/>
          <a:lstStyle/>
          <a:p>
            <a:pPr marL="0" indent="0">
              <a:buNone/>
            </a:pPr>
            <a:r>
              <a:rPr lang="en-US" sz="1400" b="1" dirty="0">
                <a:solidFill>
                  <a:srgbClr val="FFFFFF"/>
                </a:solidFill>
                <a:latin typeface="Aptos" panose="020B0004020202020204" pitchFamily="34" charset="0"/>
                <a:ea typeface="Open Sans" pitchFamily="34" charset="-122"/>
                <a:cs typeface="Open Sans" pitchFamily="34" charset="-120"/>
              </a:rPr>
              <a:t>Overall performance</a:t>
            </a:r>
            <a:endParaRPr lang="en-US" sz="1400" dirty="0">
              <a:latin typeface="Aptos" panose="020B0004020202020204" pitchFamily="34" charset="0"/>
            </a:endParaRPr>
          </a:p>
        </p:txBody>
      </p:sp>
      <p:sp>
        <p:nvSpPr>
          <p:cNvPr id="9" name="Text 7"/>
          <p:cNvSpPr/>
          <p:nvPr/>
        </p:nvSpPr>
        <p:spPr>
          <a:xfrm>
            <a:off x="612648" y="2560320"/>
            <a:ext cx="2286000" cy="228600"/>
          </a:xfrm>
          <a:prstGeom prst="rect">
            <a:avLst/>
          </a:prstGeom>
          <a:noFill/>
          <a:ln/>
        </p:spPr>
        <p:txBody>
          <a:bodyPr wrap="square" lIns="0" tIns="0" rIns="0" bIns="0" rtlCol="0" anchor="t"/>
          <a:lstStyle/>
          <a:p>
            <a:pPr marL="0" indent="0">
              <a:buNone/>
            </a:pPr>
            <a:r>
              <a:rPr lang="en-US" sz="1000" dirty="0">
                <a:solidFill>
                  <a:srgbClr val="BFD2E4"/>
                </a:solidFill>
                <a:latin typeface="Aptos" panose="020B0004020202020204" pitchFamily="34" charset="0"/>
                <a:ea typeface="Open Sans" pitchFamily="34" charset="-122"/>
                <a:cs typeface="Open Sans" pitchFamily="34" charset="-120"/>
              </a:rPr>
              <a:t>Symptomatic patients</a:t>
            </a:r>
            <a:endParaRPr lang="en-US" sz="1000" dirty="0">
              <a:latin typeface="Aptos" panose="020B0004020202020204" pitchFamily="34" charset="0"/>
            </a:endParaRPr>
          </a:p>
        </p:txBody>
      </p:sp>
      <p:sp>
        <p:nvSpPr>
          <p:cNvPr id="10" name="Shape 8"/>
          <p:cNvSpPr/>
          <p:nvPr/>
        </p:nvSpPr>
        <p:spPr>
          <a:xfrm>
            <a:off x="612648" y="2834640"/>
            <a:ext cx="2249424" cy="10973"/>
          </a:xfrm>
          <a:prstGeom prst="rect">
            <a:avLst/>
          </a:prstGeom>
          <a:solidFill>
            <a:srgbClr val="27466A"/>
          </a:solidFill>
          <a:ln w="12700">
            <a:solidFill>
              <a:srgbClr val="27466A"/>
            </a:solidFill>
            <a:prstDash val="solid"/>
          </a:ln>
        </p:spPr>
        <p:txBody>
          <a:bodyPr/>
          <a:lstStyle/>
          <a:p>
            <a:endParaRPr lang="en-US">
              <a:latin typeface="Aptos" panose="020B0004020202020204" pitchFamily="34" charset="0"/>
            </a:endParaRPr>
          </a:p>
        </p:txBody>
      </p:sp>
      <p:sp>
        <p:nvSpPr>
          <p:cNvPr id="11" name="Text 9"/>
          <p:cNvSpPr/>
          <p:nvPr/>
        </p:nvSpPr>
        <p:spPr>
          <a:xfrm>
            <a:off x="612648" y="297180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0.86</a:t>
            </a:r>
            <a:endParaRPr lang="en-US" sz="2200" dirty="0">
              <a:solidFill>
                <a:srgbClr val="59AFED"/>
              </a:solidFill>
              <a:latin typeface="Aptos" panose="020B0004020202020204" pitchFamily="34" charset="0"/>
            </a:endParaRPr>
          </a:p>
        </p:txBody>
      </p:sp>
      <p:sp>
        <p:nvSpPr>
          <p:cNvPr id="12" name="Text 10"/>
          <p:cNvSpPr/>
          <p:nvPr/>
        </p:nvSpPr>
        <p:spPr>
          <a:xfrm>
            <a:off x="1753819" y="3081528"/>
            <a:ext cx="1458468"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AUC</a:t>
            </a:r>
            <a:endParaRPr lang="en-US" sz="1000" dirty="0">
              <a:latin typeface="Aptos" panose="020B0004020202020204" pitchFamily="34" charset="0"/>
            </a:endParaRPr>
          </a:p>
        </p:txBody>
      </p:sp>
      <p:sp>
        <p:nvSpPr>
          <p:cNvPr id="13" name="Text 11"/>
          <p:cNvSpPr/>
          <p:nvPr/>
        </p:nvSpPr>
        <p:spPr>
          <a:xfrm>
            <a:off x="612648" y="347472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90%</a:t>
            </a:r>
            <a:endParaRPr lang="en-US" sz="2200" dirty="0">
              <a:solidFill>
                <a:srgbClr val="59AFED"/>
              </a:solidFill>
              <a:latin typeface="Aptos" panose="020B0004020202020204" pitchFamily="34" charset="0"/>
            </a:endParaRPr>
          </a:p>
        </p:txBody>
      </p:sp>
      <p:sp>
        <p:nvSpPr>
          <p:cNvPr id="14" name="Text 12"/>
          <p:cNvSpPr/>
          <p:nvPr/>
        </p:nvSpPr>
        <p:spPr>
          <a:xfrm>
            <a:off x="1753819" y="3584448"/>
            <a:ext cx="1458468"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Sensitivity</a:t>
            </a:r>
            <a:endParaRPr lang="en-US" sz="1000" dirty="0">
              <a:latin typeface="Aptos" panose="020B0004020202020204" pitchFamily="34" charset="0"/>
            </a:endParaRPr>
          </a:p>
        </p:txBody>
      </p:sp>
      <p:sp>
        <p:nvSpPr>
          <p:cNvPr id="15" name="Text 13"/>
          <p:cNvSpPr/>
          <p:nvPr/>
        </p:nvSpPr>
        <p:spPr>
          <a:xfrm>
            <a:off x="612648" y="397764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99%</a:t>
            </a:r>
            <a:endParaRPr lang="en-US" sz="2200" dirty="0">
              <a:solidFill>
                <a:srgbClr val="59AFED"/>
              </a:solidFill>
              <a:latin typeface="Aptos" panose="020B0004020202020204" pitchFamily="34" charset="0"/>
            </a:endParaRPr>
          </a:p>
        </p:txBody>
      </p:sp>
      <p:sp>
        <p:nvSpPr>
          <p:cNvPr id="16" name="Text 14"/>
          <p:cNvSpPr/>
          <p:nvPr/>
        </p:nvSpPr>
        <p:spPr>
          <a:xfrm>
            <a:off x="1753819" y="4087368"/>
            <a:ext cx="1458468"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NPV</a:t>
            </a:r>
            <a:endParaRPr lang="en-US" sz="1000" dirty="0">
              <a:latin typeface="Aptos" panose="020B0004020202020204" pitchFamily="34" charset="0"/>
            </a:endParaRPr>
          </a:p>
        </p:txBody>
      </p:sp>
      <p:sp>
        <p:nvSpPr>
          <p:cNvPr id="17" name="Shape 15"/>
          <p:cNvSpPr/>
          <p:nvPr/>
        </p:nvSpPr>
        <p:spPr>
          <a:xfrm>
            <a:off x="3246120" y="2057400"/>
            <a:ext cx="2651760" cy="2514600"/>
          </a:xfrm>
          <a:prstGeom prst="rect">
            <a:avLst/>
          </a:prstGeom>
          <a:solidFill>
            <a:srgbClr val="0B2A4A"/>
          </a:solidFill>
          <a:ln w="12700">
            <a:solidFill>
              <a:srgbClr val="0B2A4A"/>
            </a:solidFill>
            <a:prstDash val="solid"/>
          </a:ln>
        </p:spPr>
        <p:txBody>
          <a:bodyPr/>
          <a:lstStyle/>
          <a:p>
            <a:endParaRPr lang="en-US">
              <a:latin typeface="Aptos" panose="020B0004020202020204" pitchFamily="34" charset="0"/>
            </a:endParaRPr>
          </a:p>
        </p:txBody>
      </p:sp>
      <p:sp>
        <p:nvSpPr>
          <p:cNvPr id="18" name="Shape 16"/>
          <p:cNvSpPr/>
          <p:nvPr/>
        </p:nvSpPr>
        <p:spPr>
          <a:xfrm>
            <a:off x="3246120" y="2057400"/>
            <a:ext cx="2651760" cy="73152"/>
          </a:xfrm>
          <a:prstGeom prst="rect">
            <a:avLst/>
          </a:prstGeom>
          <a:solidFill>
            <a:srgbClr val="60B6EE"/>
          </a:solidFill>
          <a:ln w="12700">
            <a:solidFill>
              <a:srgbClr val="60B6EE"/>
            </a:solidFill>
            <a:prstDash val="solid"/>
          </a:ln>
        </p:spPr>
        <p:txBody>
          <a:bodyPr/>
          <a:lstStyle/>
          <a:p>
            <a:endParaRPr lang="en-US">
              <a:latin typeface="Aptos" panose="020B0004020202020204" pitchFamily="34" charset="0"/>
            </a:endParaRPr>
          </a:p>
        </p:txBody>
      </p:sp>
      <p:sp>
        <p:nvSpPr>
          <p:cNvPr id="19" name="Text 17"/>
          <p:cNvSpPr/>
          <p:nvPr/>
        </p:nvSpPr>
        <p:spPr>
          <a:xfrm>
            <a:off x="3447288" y="2240280"/>
            <a:ext cx="2286000" cy="320040"/>
          </a:xfrm>
          <a:prstGeom prst="rect">
            <a:avLst/>
          </a:prstGeom>
          <a:noFill/>
          <a:ln/>
        </p:spPr>
        <p:txBody>
          <a:bodyPr wrap="square" lIns="0" tIns="0" rIns="0" bIns="0" rtlCol="0" anchor="t"/>
          <a:lstStyle/>
          <a:p>
            <a:pPr marL="0" indent="0">
              <a:buNone/>
            </a:pPr>
            <a:r>
              <a:rPr lang="en-US" sz="1400" b="1" dirty="0">
                <a:solidFill>
                  <a:srgbClr val="FFFFFF"/>
                </a:solidFill>
                <a:latin typeface="Aptos" panose="020B0004020202020204" pitchFamily="34" charset="0"/>
                <a:ea typeface="Open Sans" pitchFamily="34" charset="-122"/>
                <a:cs typeface="Open Sans" pitchFamily="34" charset="-120"/>
              </a:rPr>
              <a:t>Subgroups</a:t>
            </a:r>
            <a:endParaRPr lang="en-US" sz="1400" dirty="0">
              <a:latin typeface="Aptos" panose="020B0004020202020204" pitchFamily="34" charset="0"/>
            </a:endParaRPr>
          </a:p>
        </p:txBody>
      </p:sp>
      <p:sp>
        <p:nvSpPr>
          <p:cNvPr id="20" name="Text 18"/>
          <p:cNvSpPr/>
          <p:nvPr/>
        </p:nvSpPr>
        <p:spPr>
          <a:xfrm>
            <a:off x="3447288" y="2560320"/>
            <a:ext cx="2286000" cy="228600"/>
          </a:xfrm>
          <a:prstGeom prst="rect">
            <a:avLst/>
          </a:prstGeom>
          <a:noFill/>
          <a:ln/>
        </p:spPr>
        <p:txBody>
          <a:bodyPr wrap="square" lIns="0" tIns="0" rIns="0" bIns="0" rtlCol="0" anchor="t"/>
          <a:lstStyle/>
          <a:p>
            <a:pPr marL="0" indent="0">
              <a:buNone/>
            </a:pPr>
            <a:r>
              <a:rPr lang="en-US" sz="1000" dirty="0">
                <a:solidFill>
                  <a:srgbClr val="BFD2E4"/>
                </a:solidFill>
                <a:latin typeface="Aptos" panose="020B0004020202020204" pitchFamily="34" charset="0"/>
                <a:ea typeface="Open Sans" pitchFamily="34" charset="-122"/>
                <a:cs typeface="Open Sans" pitchFamily="34" charset="-120"/>
              </a:rPr>
              <a:t>Performance by disease type</a:t>
            </a:r>
            <a:endParaRPr lang="en-US" sz="1000" dirty="0">
              <a:latin typeface="Aptos" panose="020B0004020202020204" pitchFamily="34" charset="0"/>
            </a:endParaRPr>
          </a:p>
        </p:txBody>
      </p:sp>
      <p:sp>
        <p:nvSpPr>
          <p:cNvPr id="21" name="Shape 19"/>
          <p:cNvSpPr/>
          <p:nvPr/>
        </p:nvSpPr>
        <p:spPr>
          <a:xfrm>
            <a:off x="3447288" y="2834640"/>
            <a:ext cx="2249424" cy="10973"/>
          </a:xfrm>
          <a:prstGeom prst="rect">
            <a:avLst/>
          </a:prstGeom>
          <a:solidFill>
            <a:srgbClr val="27466A"/>
          </a:solidFill>
          <a:ln w="12700">
            <a:solidFill>
              <a:srgbClr val="27466A"/>
            </a:solidFill>
            <a:prstDash val="solid"/>
          </a:ln>
        </p:spPr>
        <p:txBody>
          <a:bodyPr/>
          <a:lstStyle/>
          <a:p>
            <a:endParaRPr lang="en-US">
              <a:latin typeface="Aptos" panose="020B0004020202020204" pitchFamily="34" charset="0"/>
            </a:endParaRPr>
          </a:p>
        </p:txBody>
      </p:sp>
      <p:sp>
        <p:nvSpPr>
          <p:cNvPr id="22" name="Text 20"/>
          <p:cNvSpPr/>
          <p:nvPr/>
        </p:nvSpPr>
        <p:spPr>
          <a:xfrm>
            <a:off x="3447288" y="297180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91%</a:t>
            </a:r>
            <a:endParaRPr lang="en-US" sz="2200" dirty="0">
              <a:solidFill>
                <a:srgbClr val="59AFED"/>
              </a:solidFill>
              <a:latin typeface="Aptos" panose="020B0004020202020204" pitchFamily="34" charset="0"/>
            </a:endParaRPr>
          </a:p>
        </p:txBody>
      </p:sp>
      <p:sp>
        <p:nvSpPr>
          <p:cNvPr id="23" name="Text 21"/>
          <p:cNvSpPr/>
          <p:nvPr/>
        </p:nvSpPr>
        <p:spPr>
          <a:xfrm>
            <a:off x="4588459" y="3081528"/>
            <a:ext cx="1458468"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eCAD sensitivity</a:t>
            </a:r>
            <a:endParaRPr lang="en-US" sz="1000" dirty="0">
              <a:latin typeface="Aptos" panose="020B0004020202020204" pitchFamily="34" charset="0"/>
            </a:endParaRPr>
          </a:p>
        </p:txBody>
      </p:sp>
      <p:sp>
        <p:nvSpPr>
          <p:cNvPr id="24" name="Text 22"/>
          <p:cNvSpPr/>
          <p:nvPr/>
        </p:nvSpPr>
        <p:spPr>
          <a:xfrm>
            <a:off x="3447288" y="347472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86%</a:t>
            </a:r>
            <a:endParaRPr lang="en-US" sz="2200" dirty="0">
              <a:solidFill>
                <a:srgbClr val="59AFED"/>
              </a:solidFill>
              <a:latin typeface="Aptos" panose="020B0004020202020204" pitchFamily="34" charset="0"/>
            </a:endParaRPr>
          </a:p>
        </p:txBody>
      </p:sp>
      <p:sp>
        <p:nvSpPr>
          <p:cNvPr id="25" name="Text 23"/>
          <p:cNvSpPr/>
          <p:nvPr/>
        </p:nvSpPr>
        <p:spPr>
          <a:xfrm>
            <a:off x="4588459" y="3584448"/>
            <a:ext cx="1458468"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INOCA sensitivity</a:t>
            </a:r>
            <a:endParaRPr lang="en-US" sz="1000" dirty="0">
              <a:latin typeface="Aptos" panose="020B0004020202020204" pitchFamily="34" charset="0"/>
            </a:endParaRPr>
          </a:p>
        </p:txBody>
      </p:sp>
      <p:sp>
        <p:nvSpPr>
          <p:cNvPr id="26" name="Text 24"/>
          <p:cNvSpPr/>
          <p:nvPr/>
        </p:nvSpPr>
        <p:spPr>
          <a:xfrm>
            <a:off x="3447288" y="397764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59%</a:t>
            </a:r>
            <a:endParaRPr lang="en-US" sz="2200" dirty="0">
              <a:solidFill>
                <a:srgbClr val="59AFED"/>
              </a:solidFill>
              <a:latin typeface="Aptos" panose="020B0004020202020204" pitchFamily="34" charset="0"/>
            </a:endParaRPr>
          </a:p>
        </p:txBody>
      </p:sp>
      <p:sp>
        <p:nvSpPr>
          <p:cNvPr id="27" name="Text 25"/>
          <p:cNvSpPr/>
          <p:nvPr/>
        </p:nvSpPr>
        <p:spPr>
          <a:xfrm>
            <a:off x="4588459" y="4087368"/>
            <a:ext cx="1458468"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Specificity</a:t>
            </a:r>
            <a:endParaRPr lang="en-US" sz="1000" dirty="0">
              <a:latin typeface="Aptos" panose="020B0004020202020204" pitchFamily="34" charset="0"/>
            </a:endParaRPr>
          </a:p>
        </p:txBody>
      </p:sp>
      <p:sp>
        <p:nvSpPr>
          <p:cNvPr id="28" name="Shape 26"/>
          <p:cNvSpPr/>
          <p:nvPr/>
        </p:nvSpPr>
        <p:spPr>
          <a:xfrm>
            <a:off x="6080760" y="2057400"/>
            <a:ext cx="2651760" cy="2514600"/>
          </a:xfrm>
          <a:prstGeom prst="rect">
            <a:avLst/>
          </a:prstGeom>
          <a:solidFill>
            <a:srgbClr val="0B2A4A"/>
          </a:solidFill>
          <a:ln w="12700">
            <a:solidFill>
              <a:srgbClr val="0B2A4A"/>
            </a:solidFill>
            <a:prstDash val="solid"/>
          </a:ln>
        </p:spPr>
        <p:txBody>
          <a:bodyPr/>
          <a:lstStyle/>
          <a:p>
            <a:endParaRPr lang="en-US">
              <a:latin typeface="Aptos" panose="020B0004020202020204" pitchFamily="34" charset="0"/>
            </a:endParaRPr>
          </a:p>
        </p:txBody>
      </p:sp>
      <p:sp>
        <p:nvSpPr>
          <p:cNvPr id="29" name="Shape 27"/>
          <p:cNvSpPr/>
          <p:nvPr/>
        </p:nvSpPr>
        <p:spPr>
          <a:xfrm>
            <a:off x="6080760" y="2057400"/>
            <a:ext cx="2651760" cy="73152"/>
          </a:xfrm>
          <a:prstGeom prst="rect">
            <a:avLst/>
          </a:prstGeom>
          <a:solidFill>
            <a:srgbClr val="60B6EE"/>
          </a:solidFill>
          <a:ln w="12700">
            <a:solidFill>
              <a:srgbClr val="60B6EE"/>
            </a:solidFill>
            <a:prstDash val="solid"/>
          </a:ln>
        </p:spPr>
        <p:txBody>
          <a:bodyPr/>
          <a:lstStyle/>
          <a:p>
            <a:endParaRPr lang="en-US">
              <a:latin typeface="Aptos" panose="020B0004020202020204" pitchFamily="34" charset="0"/>
            </a:endParaRPr>
          </a:p>
        </p:txBody>
      </p:sp>
      <p:sp>
        <p:nvSpPr>
          <p:cNvPr id="30" name="Text 28"/>
          <p:cNvSpPr/>
          <p:nvPr/>
        </p:nvSpPr>
        <p:spPr>
          <a:xfrm>
            <a:off x="6281928" y="2240280"/>
            <a:ext cx="2286000" cy="320040"/>
          </a:xfrm>
          <a:prstGeom prst="rect">
            <a:avLst/>
          </a:prstGeom>
          <a:noFill/>
          <a:ln/>
        </p:spPr>
        <p:txBody>
          <a:bodyPr wrap="square" lIns="0" tIns="0" rIns="0" bIns="0" rtlCol="0" anchor="t"/>
          <a:lstStyle/>
          <a:p>
            <a:pPr marL="0" indent="0">
              <a:buNone/>
            </a:pPr>
            <a:r>
              <a:rPr lang="en-US" sz="1400" b="1" dirty="0">
                <a:solidFill>
                  <a:srgbClr val="FFFFFF"/>
                </a:solidFill>
                <a:latin typeface="Aptos" panose="020B0004020202020204" pitchFamily="34" charset="0"/>
                <a:ea typeface="Open Sans" pitchFamily="34" charset="-122"/>
                <a:cs typeface="Open Sans" pitchFamily="34" charset="-120"/>
              </a:rPr>
              <a:t>Clinical context</a:t>
            </a:r>
            <a:endParaRPr lang="en-US" sz="1400" dirty="0">
              <a:latin typeface="Aptos" panose="020B0004020202020204" pitchFamily="34" charset="0"/>
            </a:endParaRPr>
          </a:p>
        </p:txBody>
      </p:sp>
      <p:sp>
        <p:nvSpPr>
          <p:cNvPr id="31" name="Text 29"/>
          <p:cNvSpPr/>
          <p:nvPr/>
        </p:nvSpPr>
        <p:spPr>
          <a:xfrm>
            <a:off x="6281928" y="2560320"/>
            <a:ext cx="2286000" cy="228600"/>
          </a:xfrm>
          <a:prstGeom prst="rect">
            <a:avLst/>
          </a:prstGeom>
          <a:noFill/>
          <a:ln/>
        </p:spPr>
        <p:txBody>
          <a:bodyPr wrap="square" lIns="0" tIns="0" rIns="0" bIns="0" rtlCol="0" anchor="t"/>
          <a:lstStyle/>
          <a:p>
            <a:pPr marL="0" indent="0">
              <a:buNone/>
            </a:pPr>
            <a:r>
              <a:rPr lang="en-US" sz="1000" dirty="0">
                <a:solidFill>
                  <a:srgbClr val="BFD2E4"/>
                </a:solidFill>
                <a:latin typeface="Aptos" panose="020B0004020202020204" pitchFamily="34" charset="0"/>
                <a:ea typeface="Open Sans" pitchFamily="34" charset="-122"/>
                <a:cs typeface="Open Sans" pitchFamily="34" charset="-120"/>
              </a:rPr>
              <a:t>Unmet need addressed</a:t>
            </a:r>
            <a:endParaRPr lang="en-US" sz="1000" dirty="0">
              <a:latin typeface="Aptos" panose="020B0004020202020204" pitchFamily="34" charset="0"/>
            </a:endParaRPr>
          </a:p>
        </p:txBody>
      </p:sp>
      <p:sp>
        <p:nvSpPr>
          <p:cNvPr id="32" name="Shape 30"/>
          <p:cNvSpPr/>
          <p:nvPr/>
        </p:nvSpPr>
        <p:spPr>
          <a:xfrm>
            <a:off x="6281928" y="2834640"/>
            <a:ext cx="2249424" cy="10973"/>
          </a:xfrm>
          <a:prstGeom prst="rect">
            <a:avLst/>
          </a:prstGeom>
          <a:solidFill>
            <a:srgbClr val="27466A"/>
          </a:solidFill>
          <a:ln w="12700">
            <a:solidFill>
              <a:srgbClr val="27466A"/>
            </a:solidFill>
            <a:prstDash val="solid"/>
          </a:ln>
        </p:spPr>
        <p:txBody>
          <a:bodyPr/>
          <a:lstStyle/>
          <a:p>
            <a:endParaRPr lang="en-US">
              <a:latin typeface="Aptos" panose="020B0004020202020204" pitchFamily="34" charset="0"/>
            </a:endParaRPr>
          </a:p>
        </p:txBody>
      </p:sp>
      <p:sp>
        <p:nvSpPr>
          <p:cNvPr id="33" name="Text 31"/>
          <p:cNvSpPr/>
          <p:nvPr/>
        </p:nvSpPr>
        <p:spPr>
          <a:xfrm>
            <a:off x="6281928" y="297180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&gt;90%</a:t>
            </a:r>
            <a:endParaRPr lang="en-US" sz="2200" dirty="0">
              <a:solidFill>
                <a:srgbClr val="59AFED"/>
              </a:solidFill>
              <a:latin typeface="Aptos" panose="020B0004020202020204" pitchFamily="34" charset="0"/>
            </a:endParaRPr>
          </a:p>
        </p:txBody>
      </p:sp>
      <p:sp>
        <p:nvSpPr>
          <p:cNvPr id="34" name="Text 32"/>
          <p:cNvSpPr/>
          <p:nvPr/>
        </p:nvSpPr>
        <p:spPr>
          <a:xfrm>
            <a:off x="7240219" y="2994253"/>
            <a:ext cx="1407167"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lack noninvasive PET-CT access</a:t>
            </a:r>
            <a:endParaRPr lang="en-US" sz="1000" dirty="0">
              <a:latin typeface="Aptos" panose="020B0004020202020204" pitchFamily="34" charset="0"/>
            </a:endParaRPr>
          </a:p>
        </p:txBody>
      </p:sp>
      <p:sp>
        <p:nvSpPr>
          <p:cNvPr id="35" name="Text 33"/>
          <p:cNvSpPr/>
          <p:nvPr/>
        </p:nvSpPr>
        <p:spPr>
          <a:xfrm>
            <a:off x="6281928" y="347472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2/3</a:t>
            </a:r>
            <a:endParaRPr lang="en-US" sz="2200" dirty="0">
              <a:solidFill>
                <a:srgbClr val="59AFED"/>
              </a:solidFill>
              <a:latin typeface="Aptos" panose="020B0004020202020204" pitchFamily="34" charset="0"/>
            </a:endParaRPr>
          </a:p>
        </p:txBody>
      </p:sp>
      <p:sp>
        <p:nvSpPr>
          <p:cNvPr id="36" name="Text 34"/>
          <p:cNvSpPr/>
          <p:nvPr/>
        </p:nvSpPr>
        <p:spPr>
          <a:xfrm>
            <a:off x="7240219" y="3483864"/>
            <a:ext cx="1492301"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women in angiography: no obstruction</a:t>
            </a:r>
            <a:endParaRPr lang="en-US" sz="1000" dirty="0">
              <a:latin typeface="Aptos" panose="020B0004020202020204" pitchFamily="34" charset="0"/>
            </a:endParaRPr>
          </a:p>
        </p:txBody>
      </p:sp>
      <p:sp>
        <p:nvSpPr>
          <p:cNvPr id="37" name="Text 35"/>
          <p:cNvSpPr/>
          <p:nvPr/>
        </p:nvSpPr>
        <p:spPr>
          <a:xfrm>
            <a:off x="6281928" y="3977640"/>
            <a:ext cx="1113739" cy="457200"/>
          </a:xfrm>
          <a:prstGeom prst="rect">
            <a:avLst/>
          </a:prstGeom>
          <a:noFill/>
          <a:ln/>
        </p:spPr>
        <p:txBody>
          <a:bodyPr wrap="square" lIns="0" tIns="0" rIns="0" bIns="0" rtlCol="0" anchor="t"/>
          <a:lstStyle/>
          <a:p>
            <a:pPr marL="0" indent="0">
              <a:buNone/>
            </a:pPr>
            <a:r>
              <a:rPr lang="en-US" sz="2200" b="1" dirty="0">
                <a:solidFill>
                  <a:srgbClr val="59AFED"/>
                </a:solidFill>
                <a:latin typeface="Aptos" panose="020B0004020202020204" pitchFamily="34" charset="0"/>
                <a:ea typeface="Open Sans" pitchFamily="34" charset="-122"/>
                <a:cs typeface="Open Sans" pitchFamily="34" charset="-120"/>
              </a:rPr>
              <a:t>All</a:t>
            </a:r>
            <a:endParaRPr lang="en-US" sz="2200" dirty="0">
              <a:solidFill>
                <a:srgbClr val="59AFED"/>
              </a:solidFill>
              <a:latin typeface="Aptos" panose="020B0004020202020204" pitchFamily="34" charset="0"/>
            </a:endParaRPr>
          </a:p>
        </p:txBody>
      </p:sp>
      <p:sp>
        <p:nvSpPr>
          <p:cNvPr id="38" name="Text 36"/>
          <p:cNvSpPr/>
          <p:nvPr/>
        </p:nvSpPr>
        <p:spPr>
          <a:xfrm>
            <a:off x="7240219" y="4009139"/>
            <a:ext cx="1407167" cy="411480"/>
          </a:xfrm>
          <a:prstGeom prst="rect">
            <a:avLst/>
          </a:prstGeom>
          <a:noFill/>
          <a:ln/>
        </p:spPr>
        <p:txBody>
          <a:bodyPr wrap="square" lIns="0" tIns="0" rIns="0" bIns="0" rtlCol="0" anchor="t"/>
          <a:lstStyle/>
          <a:p>
            <a:pPr marL="0" indent="0">
              <a:buNone/>
            </a:pPr>
            <a:r>
              <a:rPr lang="en-US" sz="1000" dirty="0">
                <a:solidFill>
                  <a:srgbClr val="DCE7F1"/>
                </a:solidFill>
                <a:latin typeface="Aptos" panose="020B0004020202020204" pitchFamily="34" charset="0"/>
                <a:ea typeface="Open Sans" pitchFamily="34" charset="-122"/>
                <a:cs typeface="Open Sans" pitchFamily="34" charset="-120"/>
              </a:rPr>
              <a:t>subgroups: sex, age, BMI</a:t>
            </a:r>
            <a:endParaRPr lang="en-US" sz="1000" dirty="0">
              <a:latin typeface="Aptos" panose="020B0004020202020204" pitchFamily="34" charset="0"/>
            </a:endParaRPr>
          </a:p>
        </p:txBody>
      </p:sp>
      <p:sp>
        <p:nvSpPr>
          <p:cNvPr id="39" name="Shape 37"/>
          <p:cNvSpPr/>
          <p:nvPr/>
        </p:nvSpPr>
        <p:spPr>
          <a:xfrm>
            <a:off x="365760" y="4736592"/>
            <a:ext cx="8412480" cy="10973"/>
          </a:xfrm>
          <a:prstGeom prst="rect">
            <a:avLst/>
          </a:prstGeom>
          <a:solidFill>
            <a:srgbClr val="DDE2E7"/>
          </a:solidFill>
          <a:ln w="12700">
            <a:solidFill>
              <a:srgbClr val="DDE2E7"/>
            </a:solidFill>
            <a:prstDash val="solid"/>
          </a:ln>
        </p:spPr>
        <p:txBody>
          <a:bodyPr/>
          <a:lstStyle/>
          <a:p>
            <a:endParaRPr lang="en-US">
              <a:latin typeface="Aptos" panose="020B0004020202020204" pitchFamily="34" charset="0"/>
            </a:endParaRPr>
          </a:p>
        </p:txBody>
      </p:sp>
      <p:sp>
        <p:nvSpPr>
          <p:cNvPr id="40" name="Text 38"/>
          <p:cNvSpPr/>
          <p:nvPr/>
        </p:nvSpPr>
        <p:spPr>
          <a:xfrm>
            <a:off x="365760" y="4800600"/>
            <a:ext cx="365760" cy="274320"/>
          </a:xfrm>
          <a:prstGeom prst="rect">
            <a:avLst/>
          </a:prstGeom>
          <a:noFill/>
          <a:ln/>
        </p:spPr>
        <p:txBody>
          <a:bodyPr wrap="square" lIns="0" tIns="0" rIns="0" bIns="0" rtlCol="0" anchor="ctr"/>
          <a:lstStyle/>
          <a:p>
            <a:pPr marL="0" indent="0">
              <a:buNone/>
            </a:pPr>
            <a:r>
              <a:rPr lang="en-US" sz="900" dirty="0">
                <a:solidFill>
                  <a:srgbClr val="5B6B7F"/>
                </a:solidFill>
                <a:latin typeface="Aptos" panose="020B0004020202020204" pitchFamily="34" charset="0"/>
                <a:ea typeface="Open Sans" pitchFamily="34" charset="-122"/>
                <a:cs typeface="Open Sans" pitchFamily="34" charset="-120"/>
              </a:rPr>
              <a:t>3</a:t>
            </a:r>
            <a:endParaRPr lang="en-US" sz="900" dirty="0">
              <a:latin typeface="Aptos" panose="020B0004020202020204" pitchFamily="34" charset="0"/>
            </a:endParaRPr>
          </a:p>
        </p:txBody>
      </p:sp>
      <p:pic>
        <p:nvPicPr>
          <p:cNvPr id="42" name="Image 0" descr="/mnt/data/cvh_unzip/ppt/media/image1.png">
            <a:extLst>
              <a:ext uri="{FF2B5EF4-FFF2-40B4-BE49-F238E27FC236}">
                <a16:creationId xmlns:a16="http://schemas.microsoft.com/office/drawing/2014/main" id="{2933CCB8-4CA7-4D69-300E-8F9709DF962C}"/>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745908" y="4856278"/>
            <a:ext cx="1234440" cy="1629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411480" y="320040"/>
            <a:ext cx="3657600" cy="228600"/>
          </a:xfrm>
          <a:prstGeom prst="rect">
            <a:avLst/>
          </a:prstGeom>
          <a:noFill/>
          <a:ln/>
        </p:spPr>
        <p:txBody>
          <a:bodyPr wrap="square" lIns="0" tIns="0" rIns="0" bIns="0" rtlCol="0" anchor="ctr"/>
          <a:lstStyle/>
          <a:p>
            <a:pPr marL="0" indent="0">
              <a:buNone/>
            </a:pPr>
            <a:r>
              <a:rPr lang="en-US" sz="1100" b="1" kern="0" spc="200" dirty="0">
                <a:solidFill>
                  <a:srgbClr val="3DA8DD"/>
                </a:solidFill>
                <a:latin typeface="Aptos" panose="020B0004020202020204" pitchFamily="34" charset="0"/>
                <a:ea typeface="Open Sans" pitchFamily="34" charset="-122"/>
                <a:cs typeface="Open Sans" pitchFamily="34" charset="-120"/>
              </a:rPr>
              <a:t>COMMERCIAL STRATEGY</a:t>
            </a:r>
            <a:endParaRPr lang="en-US" sz="1100" dirty="0">
              <a:latin typeface="Aptos" panose="020B0004020202020204" pitchFamily="34" charset="0"/>
            </a:endParaRPr>
          </a:p>
        </p:txBody>
      </p:sp>
      <p:sp>
        <p:nvSpPr>
          <p:cNvPr id="3" name="Shape 1"/>
          <p:cNvSpPr/>
          <p:nvPr/>
        </p:nvSpPr>
        <p:spPr>
          <a:xfrm>
            <a:off x="411480" y="566928"/>
            <a:ext cx="457200" cy="36576"/>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4" name="Text 2"/>
          <p:cNvSpPr/>
          <p:nvPr/>
        </p:nvSpPr>
        <p:spPr>
          <a:xfrm>
            <a:off x="411480" y="713232"/>
            <a:ext cx="8321040" cy="502920"/>
          </a:xfrm>
          <a:prstGeom prst="rect">
            <a:avLst/>
          </a:prstGeom>
          <a:noFill/>
          <a:ln/>
        </p:spPr>
        <p:txBody>
          <a:bodyPr wrap="square" lIns="0" tIns="0" rIns="0" bIns="0" rtlCol="0" anchor="t"/>
          <a:lstStyle/>
          <a:p>
            <a:pPr marL="0" indent="0">
              <a:buNone/>
            </a:pPr>
            <a:r>
              <a:rPr lang="en-US" sz="2400" b="1" dirty="0">
                <a:solidFill>
                  <a:srgbClr val="0E2841"/>
                </a:solidFill>
                <a:latin typeface="Aptos" panose="020B0004020202020204" pitchFamily="34" charset="0"/>
                <a:ea typeface="Open Sans" pitchFamily="34" charset="-122"/>
                <a:cs typeface="Open Sans" pitchFamily="34" charset="-120"/>
              </a:rPr>
              <a:t>Refined GTM: specialist-led, continuously optimized</a:t>
            </a:r>
          </a:p>
        </p:txBody>
      </p:sp>
      <p:sp>
        <p:nvSpPr>
          <p:cNvPr id="5" name="Text 3"/>
          <p:cNvSpPr/>
          <p:nvPr/>
        </p:nvSpPr>
        <p:spPr>
          <a:xfrm>
            <a:off x="411480" y="1205484"/>
            <a:ext cx="8321040" cy="411480"/>
          </a:xfrm>
          <a:prstGeom prst="rect">
            <a:avLst/>
          </a:prstGeom>
          <a:noFill/>
          <a:ln/>
        </p:spPr>
        <p:txBody>
          <a:bodyPr wrap="square" lIns="0" tIns="0" rIns="0" bIns="0" rtlCol="0" anchor="t"/>
          <a:lstStyle/>
          <a:p>
            <a:pPr marL="0" indent="0">
              <a:buNone/>
            </a:pPr>
            <a:r>
              <a:rPr lang="en-US" sz="1300" b="1" dirty="0">
                <a:solidFill>
                  <a:srgbClr val="1F2A37"/>
                </a:solidFill>
                <a:latin typeface="Aptos" panose="020B0004020202020204" pitchFamily="34" charset="0"/>
                <a:ea typeface="Open Sans" pitchFamily="34" charset="-122"/>
                <a:cs typeface="Open Sans" pitchFamily="34" charset="-120"/>
              </a:rPr>
              <a:t>Current customer audit to inform our direction. </a:t>
            </a:r>
            <a:r>
              <a:rPr lang="en-US" sz="1300" dirty="0">
                <a:solidFill>
                  <a:srgbClr val="1F2A37"/>
                </a:solidFill>
                <a:latin typeface="Aptos" panose="020B0004020202020204" pitchFamily="34" charset="0"/>
                <a:ea typeface="Open Sans" pitchFamily="34" charset="-122"/>
                <a:cs typeface="Open Sans" pitchFamily="34" charset="-120"/>
              </a:rPr>
              <a:t>Ongoing learning loops with specialist champions and customers compound that into continuous optimization.</a:t>
            </a:r>
          </a:p>
        </p:txBody>
      </p:sp>
      <p:sp>
        <p:nvSpPr>
          <p:cNvPr id="28" name="Shape 26"/>
          <p:cNvSpPr/>
          <p:nvPr/>
        </p:nvSpPr>
        <p:spPr>
          <a:xfrm>
            <a:off x="365760" y="4736592"/>
            <a:ext cx="8412480" cy="10973"/>
          </a:xfrm>
          <a:prstGeom prst="rect">
            <a:avLst/>
          </a:prstGeom>
          <a:solidFill>
            <a:srgbClr val="DDE2E7"/>
          </a:solidFill>
          <a:ln w="12700">
            <a:solidFill>
              <a:srgbClr val="DDE2E7"/>
            </a:solidFill>
            <a:prstDash val="solid"/>
          </a:ln>
        </p:spPr>
        <p:txBody>
          <a:bodyPr/>
          <a:lstStyle/>
          <a:p>
            <a:endParaRPr lang="en-US"/>
          </a:p>
        </p:txBody>
      </p:sp>
      <p:sp>
        <p:nvSpPr>
          <p:cNvPr id="29" name="Text 27"/>
          <p:cNvSpPr/>
          <p:nvPr/>
        </p:nvSpPr>
        <p:spPr>
          <a:xfrm>
            <a:off x="365760" y="4800600"/>
            <a:ext cx="365760" cy="274320"/>
          </a:xfrm>
          <a:prstGeom prst="rect">
            <a:avLst/>
          </a:prstGeom>
          <a:noFill/>
          <a:ln/>
        </p:spPr>
        <p:txBody>
          <a:bodyPr wrap="square" lIns="0" tIns="0" rIns="0" bIns="0" rtlCol="0" anchor="ctr"/>
          <a:lstStyle/>
          <a:p>
            <a:pPr marL="0" indent="0">
              <a:buNone/>
            </a:pPr>
            <a:r>
              <a:rPr lang="en-US" sz="900" dirty="0">
                <a:solidFill>
                  <a:srgbClr val="5B6B7F"/>
                </a:solidFill>
                <a:latin typeface="Open Sans" pitchFamily="34" charset="0"/>
                <a:ea typeface="Open Sans" pitchFamily="34" charset="-122"/>
                <a:cs typeface="Open Sans" pitchFamily="34" charset="-120"/>
              </a:rPr>
              <a:t>4</a:t>
            </a:r>
            <a:endParaRPr lang="en-US" sz="900" dirty="0"/>
          </a:p>
        </p:txBody>
      </p:sp>
      <p:pic>
        <p:nvPicPr>
          <p:cNvPr id="31" name="Image 0" descr="/mnt/data/cvh_unzip/ppt/media/image1.png">
            <a:extLst>
              <a:ext uri="{FF2B5EF4-FFF2-40B4-BE49-F238E27FC236}">
                <a16:creationId xmlns:a16="http://schemas.microsoft.com/office/drawing/2014/main" id="{3B0CB9E5-468B-C1D6-CD55-3AF2E418A9CB}"/>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745908" y="4856278"/>
            <a:ext cx="1234440" cy="162963"/>
          </a:xfrm>
          <a:prstGeom prst="rect">
            <a:avLst/>
          </a:prstGeom>
        </p:spPr>
      </p:pic>
      <p:sp>
        <p:nvSpPr>
          <p:cNvPr id="100" name="Pillar BG 1"/>
          <p:cNvSpPr/>
          <p:nvPr/>
        </p:nvSpPr>
        <p:spPr>
          <a:xfrm>
            <a:off x="414020" y="2025650"/>
            <a:ext cx="2705100" cy="1371600"/>
          </a:xfrm>
          <a:prstGeom prst="roundRect">
            <a:avLst/>
          </a:prstGeom>
          <a:solidFill>
            <a:srgbClr val="F4F8FB"/>
          </a:solidFill>
          <a:ln>
            <a:noFill/>
          </a:ln>
        </p:spPr>
        <p:txBody>
          <a:bodyPr wrap="square" lIns="91440" tIns="45720" rIns="91440" bIns="45720" anchor="t"/>
          <a:lstStyle/>
          <a:p>
            <a:endParaRPr lang="en-US"/>
          </a:p>
        </p:txBody>
      </p:sp>
      <p:sp>
        <p:nvSpPr>
          <p:cNvPr id="101" name="Pillar Bar 1"/>
          <p:cNvSpPr/>
          <p:nvPr/>
        </p:nvSpPr>
        <p:spPr>
          <a:xfrm>
            <a:off x="414020" y="2025650"/>
            <a:ext cx="2705100" cy="50800"/>
          </a:xfrm>
          <a:prstGeom prst="rect">
            <a:avLst/>
          </a:prstGeom>
          <a:solidFill>
            <a:srgbClr val="0E2841"/>
          </a:solidFill>
          <a:ln>
            <a:noFill/>
          </a:ln>
        </p:spPr>
        <p:txBody>
          <a:bodyPr wrap="square" lIns="91440" tIns="45720" rIns="91440" bIns="45720" anchor="t"/>
          <a:lstStyle/>
          <a:p>
            <a:endParaRPr lang="en-US"/>
          </a:p>
        </p:txBody>
      </p:sp>
      <p:sp>
        <p:nvSpPr>
          <p:cNvPr id="102" name="Pillar Num 1"/>
          <p:cNvSpPr/>
          <p:nvPr/>
        </p:nvSpPr>
        <p:spPr>
          <a:xfrm>
            <a:off x="541020" y="2152650"/>
            <a:ext cx="381000" cy="228600"/>
          </a:xfrm>
          <a:prstGeom prst="rect">
            <a:avLst/>
          </a:prstGeom>
          <a:noFill/>
          <a:ln>
            <a:noFill/>
          </a:ln>
        </p:spPr>
        <p:txBody>
          <a:bodyPr wrap="square" lIns="91440" tIns="45720" rIns="91440" bIns="45720" anchor="t"/>
          <a:lstStyle/>
          <a:p>
            <a:pPr marL="0" indent="0" algn="l">
              <a:buNone/>
            </a:pPr>
            <a:r>
              <a:rPr lang="en-US" sz="1100" b="1" dirty="0">
                <a:solidFill>
                  <a:srgbClr val="3DA8DD"/>
                </a:solidFill>
                <a:latin typeface="Aptos"/>
              </a:rPr>
              <a:t>01</a:t>
            </a:r>
          </a:p>
        </p:txBody>
      </p:sp>
      <p:sp>
        <p:nvSpPr>
          <p:cNvPr id="103" name="Pillar Title 1"/>
          <p:cNvSpPr/>
          <p:nvPr/>
        </p:nvSpPr>
        <p:spPr>
          <a:xfrm>
            <a:off x="896620" y="2127250"/>
            <a:ext cx="2120900" cy="279400"/>
          </a:xfrm>
          <a:prstGeom prst="rect">
            <a:avLst/>
          </a:prstGeom>
          <a:noFill/>
          <a:ln>
            <a:noFill/>
          </a:ln>
        </p:spPr>
        <p:txBody>
          <a:bodyPr wrap="square" lIns="91440" tIns="45720" rIns="91440" bIns="45720" anchor="t"/>
          <a:lstStyle/>
          <a:p>
            <a:pPr marL="0" indent="0">
              <a:buNone/>
            </a:pPr>
            <a:r>
              <a:rPr lang="en-US" sz="1300" b="1" dirty="0">
                <a:solidFill>
                  <a:srgbClr val="0E2841"/>
                </a:solidFill>
                <a:latin typeface="Aptos"/>
              </a:rPr>
              <a:t>Sharpened ICP</a:t>
            </a:r>
          </a:p>
        </p:txBody>
      </p:sp>
      <p:sp>
        <p:nvSpPr>
          <p:cNvPr id="104" name="Pillar Body 1"/>
          <p:cNvSpPr/>
          <p:nvPr/>
        </p:nvSpPr>
        <p:spPr>
          <a:xfrm>
            <a:off x="566420" y="2457450"/>
            <a:ext cx="2425700" cy="889000"/>
          </a:xfrm>
          <a:prstGeom prst="rect">
            <a:avLst/>
          </a:prstGeom>
          <a:noFill/>
          <a:ln>
            <a:noFill/>
          </a:ln>
        </p:spPr>
        <p:txBody>
          <a:bodyPr wrap="square" lIns="91440" tIns="45720" rIns="91440" bIns="45720" anchor="t"/>
          <a:lstStyle/>
          <a:p>
            <a:pPr marL="0" indent="0">
              <a:buNone/>
            </a:pPr>
            <a:r>
              <a:rPr lang="en-US" sz="1000" dirty="0">
                <a:solidFill>
                  <a:srgbClr val="1F2A37"/>
                </a:solidFill>
                <a:latin typeface="Aptos"/>
              </a:rPr>
              <a:t>Specialist champions in large health systems — highest diagnostic pain, fastest validation, strongest influence.</a:t>
            </a:r>
          </a:p>
        </p:txBody>
      </p:sp>
      <p:sp>
        <p:nvSpPr>
          <p:cNvPr id="105" name="Pillar BG 2"/>
          <p:cNvSpPr/>
          <p:nvPr/>
        </p:nvSpPr>
        <p:spPr>
          <a:xfrm>
            <a:off x="3220720" y="2025650"/>
            <a:ext cx="2705100" cy="1371600"/>
          </a:xfrm>
          <a:prstGeom prst="roundRect">
            <a:avLst/>
          </a:prstGeom>
          <a:solidFill>
            <a:srgbClr val="F4F8FB"/>
          </a:solidFill>
          <a:ln>
            <a:noFill/>
          </a:ln>
        </p:spPr>
        <p:txBody>
          <a:bodyPr wrap="square" lIns="91440" tIns="45720" rIns="91440" bIns="45720" anchor="t"/>
          <a:lstStyle/>
          <a:p>
            <a:endParaRPr lang="en-US"/>
          </a:p>
        </p:txBody>
      </p:sp>
      <p:sp>
        <p:nvSpPr>
          <p:cNvPr id="106" name="Pillar Bar 2"/>
          <p:cNvSpPr/>
          <p:nvPr/>
        </p:nvSpPr>
        <p:spPr>
          <a:xfrm>
            <a:off x="3220720" y="2025650"/>
            <a:ext cx="2705100" cy="50800"/>
          </a:xfrm>
          <a:prstGeom prst="rect">
            <a:avLst/>
          </a:prstGeom>
          <a:solidFill>
            <a:srgbClr val="0E2841"/>
          </a:solidFill>
          <a:ln>
            <a:noFill/>
          </a:ln>
        </p:spPr>
        <p:txBody>
          <a:bodyPr wrap="square" lIns="91440" tIns="45720" rIns="91440" bIns="45720" anchor="t"/>
          <a:lstStyle/>
          <a:p>
            <a:endParaRPr lang="en-US"/>
          </a:p>
        </p:txBody>
      </p:sp>
      <p:sp>
        <p:nvSpPr>
          <p:cNvPr id="107" name="Pillar Num 2"/>
          <p:cNvSpPr/>
          <p:nvPr/>
        </p:nvSpPr>
        <p:spPr>
          <a:xfrm>
            <a:off x="3347720" y="2152650"/>
            <a:ext cx="381000" cy="228600"/>
          </a:xfrm>
          <a:prstGeom prst="rect">
            <a:avLst/>
          </a:prstGeom>
          <a:noFill/>
          <a:ln>
            <a:noFill/>
          </a:ln>
        </p:spPr>
        <p:txBody>
          <a:bodyPr wrap="square" lIns="91440" tIns="45720" rIns="91440" bIns="45720" anchor="t"/>
          <a:lstStyle/>
          <a:p>
            <a:pPr marL="0" indent="0" algn="l">
              <a:buNone/>
            </a:pPr>
            <a:r>
              <a:rPr lang="en-US" sz="1100" b="1" dirty="0">
                <a:solidFill>
                  <a:srgbClr val="3DA8DD"/>
                </a:solidFill>
                <a:latin typeface="Aptos"/>
              </a:rPr>
              <a:t>02</a:t>
            </a:r>
          </a:p>
        </p:txBody>
      </p:sp>
      <p:sp>
        <p:nvSpPr>
          <p:cNvPr id="108" name="Pillar Title 2"/>
          <p:cNvSpPr/>
          <p:nvPr/>
        </p:nvSpPr>
        <p:spPr>
          <a:xfrm>
            <a:off x="3703320" y="2127250"/>
            <a:ext cx="2120900" cy="279400"/>
          </a:xfrm>
          <a:prstGeom prst="rect">
            <a:avLst/>
          </a:prstGeom>
          <a:noFill/>
          <a:ln>
            <a:noFill/>
          </a:ln>
        </p:spPr>
        <p:txBody>
          <a:bodyPr wrap="square" lIns="91440" tIns="45720" rIns="91440" bIns="45720" anchor="t"/>
          <a:lstStyle/>
          <a:p>
            <a:pPr marL="0" indent="0">
              <a:buNone/>
            </a:pPr>
            <a:r>
              <a:rPr lang="en-US" sz="1300" b="1" dirty="0">
                <a:solidFill>
                  <a:srgbClr val="0E2841"/>
                </a:solidFill>
                <a:latin typeface="Aptos"/>
              </a:rPr>
              <a:t>Sequenced expansion</a:t>
            </a:r>
          </a:p>
        </p:txBody>
      </p:sp>
      <p:sp>
        <p:nvSpPr>
          <p:cNvPr id="109" name="Pillar Body 2"/>
          <p:cNvSpPr/>
          <p:nvPr/>
        </p:nvSpPr>
        <p:spPr>
          <a:xfrm>
            <a:off x="3373120" y="2457450"/>
            <a:ext cx="2425700" cy="889000"/>
          </a:xfrm>
          <a:prstGeom prst="rect">
            <a:avLst/>
          </a:prstGeom>
          <a:noFill/>
          <a:ln>
            <a:noFill/>
          </a:ln>
        </p:spPr>
        <p:txBody>
          <a:bodyPr wrap="square" lIns="91440" tIns="45720" rIns="91440" bIns="45720" anchor="t"/>
          <a:lstStyle/>
          <a:p>
            <a:pPr marL="0" indent="0">
              <a:buNone/>
            </a:pPr>
            <a:r>
              <a:rPr lang="en-US" sz="1000" dirty="0">
                <a:solidFill>
                  <a:srgbClr val="1F2A37"/>
                </a:solidFill>
                <a:latin typeface="Aptos"/>
              </a:rPr>
              <a:t>Initial site → validate &amp; institutionalize → cascade to top referrers. Move CorVista upstream as the first-line test.</a:t>
            </a:r>
          </a:p>
        </p:txBody>
      </p:sp>
      <p:sp>
        <p:nvSpPr>
          <p:cNvPr id="110" name="Pillar BG 3"/>
          <p:cNvSpPr/>
          <p:nvPr/>
        </p:nvSpPr>
        <p:spPr>
          <a:xfrm>
            <a:off x="6027420" y="2025650"/>
            <a:ext cx="2705100" cy="1371600"/>
          </a:xfrm>
          <a:prstGeom prst="roundRect">
            <a:avLst/>
          </a:prstGeom>
          <a:solidFill>
            <a:srgbClr val="F4F8FB"/>
          </a:solidFill>
          <a:ln>
            <a:noFill/>
          </a:ln>
        </p:spPr>
        <p:txBody>
          <a:bodyPr wrap="square" lIns="91440" tIns="45720" rIns="91440" bIns="45720" anchor="t"/>
          <a:lstStyle/>
          <a:p>
            <a:endParaRPr lang="en-US"/>
          </a:p>
        </p:txBody>
      </p:sp>
      <p:sp>
        <p:nvSpPr>
          <p:cNvPr id="111" name="Pillar Bar 3"/>
          <p:cNvSpPr/>
          <p:nvPr/>
        </p:nvSpPr>
        <p:spPr>
          <a:xfrm>
            <a:off x="6027420" y="2025650"/>
            <a:ext cx="2705100" cy="50800"/>
          </a:xfrm>
          <a:prstGeom prst="rect">
            <a:avLst/>
          </a:prstGeom>
          <a:solidFill>
            <a:srgbClr val="0E2841"/>
          </a:solidFill>
          <a:ln>
            <a:noFill/>
          </a:ln>
        </p:spPr>
        <p:txBody>
          <a:bodyPr wrap="square" lIns="91440" tIns="45720" rIns="91440" bIns="45720" anchor="t"/>
          <a:lstStyle/>
          <a:p>
            <a:endParaRPr lang="en-US"/>
          </a:p>
        </p:txBody>
      </p:sp>
      <p:sp>
        <p:nvSpPr>
          <p:cNvPr id="112" name="Pillar Num 3"/>
          <p:cNvSpPr/>
          <p:nvPr/>
        </p:nvSpPr>
        <p:spPr>
          <a:xfrm>
            <a:off x="6154420" y="2152650"/>
            <a:ext cx="381000" cy="228600"/>
          </a:xfrm>
          <a:prstGeom prst="rect">
            <a:avLst/>
          </a:prstGeom>
          <a:noFill/>
          <a:ln>
            <a:noFill/>
          </a:ln>
        </p:spPr>
        <p:txBody>
          <a:bodyPr wrap="square" lIns="91440" tIns="45720" rIns="91440" bIns="45720" anchor="t"/>
          <a:lstStyle/>
          <a:p>
            <a:pPr marL="0" indent="0" algn="l">
              <a:buNone/>
            </a:pPr>
            <a:r>
              <a:rPr lang="en-US" sz="1100" b="1" dirty="0">
                <a:solidFill>
                  <a:srgbClr val="3DA8DD"/>
                </a:solidFill>
                <a:latin typeface="Aptos"/>
              </a:rPr>
              <a:t>03</a:t>
            </a:r>
          </a:p>
        </p:txBody>
      </p:sp>
      <p:sp>
        <p:nvSpPr>
          <p:cNvPr id="113" name="Pillar Title 3"/>
          <p:cNvSpPr/>
          <p:nvPr/>
        </p:nvSpPr>
        <p:spPr>
          <a:xfrm>
            <a:off x="6510020" y="2127250"/>
            <a:ext cx="2120900" cy="279400"/>
          </a:xfrm>
          <a:prstGeom prst="rect">
            <a:avLst/>
          </a:prstGeom>
          <a:noFill/>
          <a:ln>
            <a:noFill/>
          </a:ln>
        </p:spPr>
        <p:txBody>
          <a:bodyPr wrap="square" lIns="91440" tIns="45720" rIns="91440" bIns="45720" anchor="t"/>
          <a:lstStyle/>
          <a:p>
            <a:pPr marL="0" indent="0">
              <a:buNone/>
            </a:pPr>
            <a:r>
              <a:rPr lang="en-US" sz="1300" b="1" dirty="0">
                <a:solidFill>
                  <a:srgbClr val="0E2841"/>
                </a:solidFill>
                <a:latin typeface="Aptos"/>
              </a:rPr>
              <a:t>Evidence-anchored value</a:t>
            </a:r>
          </a:p>
        </p:txBody>
      </p:sp>
      <p:sp>
        <p:nvSpPr>
          <p:cNvPr id="114" name="Pillar Body 3"/>
          <p:cNvSpPr/>
          <p:nvPr/>
        </p:nvSpPr>
        <p:spPr>
          <a:xfrm>
            <a:off x="6179820" y="2457450"/>
            <a:ext cx="2425700" cy="889000"/>
          </a:xfrm>
          <a:prstGeom prst="rect">
            <a:avLst/>
          </a:prstGeom>
          <a:noFill/>
          <a:ln>
            <a:noFill/>
          </a:ln>
        </p:spPr>
        <p:txBody>
          <a:bodyPr wrap="square" lIns="91440" tIns="45720" rIns="91440" bIns="45720" anchor="t"/>
          <a:lstStyle/>
          <a:p>
            <a:pPr marL="0" indent="0">
              <a:buNone/>
            </a:pPr>
            <a:r>
              <a:rPr lang="en-US" sz="1000" dirty="0">
                <a:solidFill>
                  <a:srgbClr val="1F2A37"/>
                </a:solidFill>
                <a:latin typeface="Aptos"/>
              </a:rPr>
              <a:t>Local KOL proof vs. PET / RHC / echo, paired with HEOR and payer alignment to standardize first-test use.</a:t>
            </a:r>
          </a:p>
        </p:txBody>
      </p:sp>
      <p:sp>
        <p:nvSpPr>
          <p:cNvPr id="115" name="Loop BG"/>
          <p:cNvSpPr/>
          <p:nvPr/>
        </p:nvSpPr>
        <p:spPr>
          <a:xfrm>
            <a:off x="411480" y="3720592"/>
            <a:ext cx="8318500" cy="709676"/>
          </a:xfrm>
          <a:prstGeom prst="roundRect">
            <a:avLst/>
          </a:prstGeom>
          <a:solidFill>
            <a:srgbClr val="0E2841"/>
          </a:solidFill>
          <a:ln>
            <a:noFill/>
          </a:ln>
        </p:spPr>
        <p:txBody>
          <a:bodyPr wrap="square" lIns="91440" tIns="45720" rIns="91440" bIns="45720" anchor="t"/>
          <a:lstStyle/>
          <a:p>
            <a:endParaRPr lang="en-US"/>
          </a:p>
        </p:txBody>
      </p:sp>
      <p:sp>
        <p:nvSpPr>
          <p:cNvPr id="116" name="Loop Label"/>
          <p:cNvSpPr/>
          <p:nvPr/>
        </p:nvSpPr>
        <p:spPr>
          <a:xfrm>
            <a:off x="563880" y="3861196"/>
            <a:ext cx="1270000" cy="381000"/>
          </a:xfrm>
          <a:prstGeom prst="rect">
            <a:avLst/>
          </a:prstGeom>
          <a:noFill/>
          <a:ln>
            <a:noFill/>
          </a:ln>
        </p:spPr>
        <p:txBody>
          <a:bodyPr wrap="square" lIns="91440" tIns="45720" rIns="91440" bIns="45720" anchor="t"/>
          <a:lstStyle/>
          <a:p>
            <a:pPr marL="0" indent="0">
              <a:buNone/>
            </a:pPr>
            <a:r>
              <a:rPr lang="en-US" sz="900" b="1" spc="200" dirty="0">
                <a:solidFill>
                  <a:srgbClr val="59AFED"/>
                </a:solidFill>
                <a:latin typeface="Aptos"/>
              </a:rPr>
              <a:t>CONTINUOUS</a:t>
            </a:r>
          </a:p>
          <a:p>
            <a:pPr marL="0" indent="0">
              <a:buNone/>
            </a:pPr>
            <a:r>
              <a:rPr lang="en-US" sz="900" b="1" spc="200" dirty="0">
                <a:solidFill>
                  <a:srgbClr val="59AFED"/>
                </a:solidFill>
                <a:latin typeface="Aptos"/>
              </a:rPr>
              <a:t>LEARNING LOOP</a:t>
            </a:r>
          </a:p>
        </p:txBody>
      </p:sp>
      <p:sp>
        <p:nvSpPr>
          <p:cNvPr id="117" name="Step 1"/>
          <p:cNvSpPr/>
          <p:nvPr/>
        </p:nvSpPr>
        <p:spPr>
          <a:xfrm>
            <a:off x="1910080" y="3886596"/>
            <a:ext cx="1571625" cy="330200"/>
          </a:xfrm>
          <a:prstGeom prst="rect">
            <a:avLst/>
          </a:prstGeom>
          <a:noFill/>
          <a:ln>
            <a:noFill/>
          </a:ln>
        </p:spPr>
        <p:txBody>
          <a:bodyPr wrap="square" lIns="91440" tIns="45720" rIns="91440" bIns="45720" anchor="t"/>
          <a:lstStyle/>
          <a:p>
            <a:pPr marL="0" indent="0" algn="ctr">
              <a:buNone/>
            </a:pPr>
            <a:r>
              <a:rPr lang="en-US" sz="1000" b="1" dirty="0">
                <a:solidFill>
                  <a:srgbClr val="FFFFFF"/>
                </a:solidFill>
                <a:latin typeface="Aptos"/>
              </a:rPr>
              <a:t>Deploy with champions</a:t>
            </a:r>
          </a:p>
        </p:txBody>
      </p:sp>
      <p:sp>
        <p:nvSpPr>
          <p:cNvPr id="118" name="Arrow 1"/>
          <p:cNvSpPr/>
          <p:nvPr/>
        </p:nvSpPr>
        <p:spPr>
          <a:xfrm>
            <a:off x="3481705" y="3861196"/>
            <a:ext cx="127000" cy="355600"/>
          </a:xfrm>
          <a:prstGeom prst="rect">
            <a:avLst/>
          </a:prstGeom>
          <a:noFill/>
          <a:ln>
            <a:noFill/>
          </a:ln>
        </p:spPr>
        <p:txBody>
          <a:bodyPr wrap="square" lIns="91440" tIns="45720" rIns="91440" bIns="45720" anchor="t"/>
          <a:lstStyle/>
          <a:p>
            <a:pPr marL="0" indent="0" algn="ctr">
              <a:buNone/>
            </a:pPr>
            <a:r>
              <a:rPr lang="en-US" sz="1400" b="1" dirty="0">
                <a:solidFill>
                  <a:srgbClr val="3DA8DD"/>
                </a:solidFill>
                <a:latin typeface="Aptos"/>
              </a:rPr>
              <a:t>›</a:t>
            </a:r>
          </a:p>
        </p:txBody>
      </p:sp>
      <p:sp>
        <p:nvSpPr>
          <p:cNvPr id="119" name="Step 2"/>
          <p:cNvSpPr/>
          <p:nvPr/>
        </p:nvSpPr>
        <p:spPr>
          <a:xfrm>
            <a:off x="3608705" y="3886596"/>
            <a:ext cx="1571625" cy="330200"/>
          </a:xfrm>
          <a:prstGeom prst="rect">
            <a:avLst/>
          </a:prstGeom>
          <a:noFill/>
          <a:ln>
            <a:noFill/>
          </a:ln>
        </p:spPr>
        <p:txBody>
          <a:bodyPr wrap="square" lIns="91440" tIns="45720" rIns="91440" bIns="45720" anchor="t"/>
          <a:lstStyle/>
          <a:p>
            <a:pPr marL="0" indent="0" algn="ctr">
              <a:buNone/>
            </a:pPr>
            <a:r>
              <a:rPr lang="en-US" sz="1000" b="1" dirty="0">
                <a:solidFill>
                  <a:srgbClr val="FFFFFF"/>
                </a:solidFill>
                <a:latin typeface="Aptos"/>
              </a:rPr>
              <a:t>Capture clinical &amp; workflow signal</a:t>
            </a:r>
          </a:p>
        </p:txBody>
      </p:sp>
      <p:sp>
        <p:nvSpPr>
          <p:cNvPr id="120" name="Arrow 2"/>
          <p:cNvSpPr/>
          <p:nvPr/>
        </p:nvSpPr>
        <p:spPr>
          <a:xfrm>
            <a:off x="5180330" y="3861196"/>
            <a:ext cx="127000" cy="355600"/>
          </a:xfrm>
          <a:prstGeom prst="rect">
            <a:avLst/>
          </a:prstGeom>
          <a:noFill/>
          <a:ln>
            <a:noFill/>
          </a:ln>
        </p:spPr>
        <p:txBody>
          <a:bodyPr wrap="square" lIns="91440" tIns="45720" rIns="91440" bIns="45720" anchor="t"/>
          <a:lstStyle/>
          <a:p>
            <a:pPr marL="0" indent="0" algn="ctr">
              <a:buNone/>
            </a:pPr>
            <a:r>
              <a:rPr lang="en-US" sz="1400" b="1" dirty="0">
                <a:solidFill>
                  <a:srgbClr val="3DA8DD"/>
                </a:solidFill>
                <a:latin typeface="Aptos"/>
              </a:rPr>
              <a:t>›</a:t>
            </a:r>
          </a:p>
        </p:txBody>
      </p:sp>
      <p:sp>
        <p:nvSpPr>
          <p:cNvPr id="121" name="Step 3"/>
          <p:cNvSpPr/>
          <p:nvPr/>
        </p:nvSpPr>
        <p:spPr>
          <a:xfrm>
            <a:off x="5307330" y="3886596"/>
            <a:ext cx="1571625" cy="330200"/>
          </a:xfrm>
          <a:prstGeom prst="rect">
            <a:avLst/>
          </a:prstGeom>
          <a:noFill/>
          <a:ln>
            <a:noFill/>
          </a:ln>
        </p:spPr>
        <p:txBody>
          <a:bodyPr wrap="square" lIns="91440" tIns="45720" rIns="91440" bIns="45720" anchor="t"/>
          <a:lstStyle/>
          <a:p>
            <a:pPr marL="0" indent="0" algn="ctr">
              <a:buNone/>
            </a:pPr>
            <a:r>
              <a:rPr lang="en-US" sz="1000" b="1" dirty="0">
                <a:solidFill>
                  <a:srgbClr val="FFFFFF"/>
                </a:solidFill>
                <a:latin typeface="Aptos"/>
              </a:rPr>
              <a:t>Refine messaging &amp; ops</a:t>
            </a:r>
          </a:p>
        </p:txBody>
      </p:sp>
      <p:sp>
        <p:nvSpPr>
          <p:cNvPr id="122" name="Arrow 3"/>
          <p:cNvSpPr/>
          <p:nvPr/>
        </p:nvSpPr>
        <p:spPr>
          <a:xfrm>
            <a:off x="6878955" y="3861196"/>
            <a:ext cx="127000" cy="355600"/>
          </a:xfrm>
          <a:prstGeom prst="rect">
            <a:avLst/>
          </a:prstGeom>
          <a:noFill/>
          <a:ln>
            <a:noFill/>
          </a:ln>
        </p:spPr>
        <p:txBody>
          <a:bodyPr wrap="square" lIns="91440" tIns="45720" rIns="91440" bIns="45720" anchor="t"/>
          <a:lstStyle/>
          <a:p>
            <a:pPr marL="0" indent="0" algn="ctr">
              <a:buNone/>
            </a:pPr>
            <a:r>
              <a:rPr lang="en-US" sz="1400" b="1" dirty="0">
                <a:solidFill>
                  <a:srgbClr val="3DA8DD"/>
                </a:solidFill>
                <a:latin typeface="Aptos"/>
              </a:rPr>
              <a:t>›</a:t>
            </a:r>
          </a:p>
        </p:txBody>
      </p:sp>
      <p:sp>
        <p:nvSpPr>
          <p:cNvPr id="123" name="Step 4"/>
          <p:cNvSpPr/>
          <p:nvPr/>
        </p:nvSpPr>
        <p:spPr>
          <a:xfrm>
            <a:off x="7005955" y="3886596"/>
            <a:ext cx="1571625" cy="330200"/>
          </a:xfrm>
          <a:prstGeom prst="rect">
            <a:avLst/>
          </a:prstGeom>
          <a:noFill/>
          <a:ln>
            <a:noFill/>
          </a:ln>
        </p:spPr>
        <p:txBody>
          <a:bodyPr wrap="square" lIns="91440" tIns="45720" rIns="91440" bIns="45720" anchor="t"/>
          <a:lstStyle/>
          <a:p>
            <a:pPr marL="0" indent="0" algn="ctr">
              <a:buNone/>
            </a:pPr>
            <a:r>
              <a:rPr lang="en-US" sz="1000" b="1" dirty="0">
                <a:solidFill>
                  <a:srgbClr val="FFFFFF"/>
                </a:solidFill>
                <a:latin typeface="Aptos"/>
              </a:rPr>
              <a:t>Optimize &amp; scale</a:t>
            </a:r>
          </a:p>
        </p:txBody>
      </p:sp>
    </p:spTree>
    <p:extLst>
      <p:ext uri="{BB962C8B-B14F-4D97-AF65-F5344CB8AC3E}">
        <p14:creationId xmlns:p14="http://schemas.microsoft.com/office/powerpoint/2010/main" val="2405906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320040"/>
            <a:ext cx="3657600" cy="228600"/>
          </a:xfrm>
          <a:prstGeom prst="rect">
            <a:avLst/>
          </a:prstGeom>
          <a:noFill/>
          <a:ln/>
        </p:spPr>
        <p:txBody>
          <a:bodyPr wrap="square" lIns="0" tIns="0" rIns="0" bIns="0" rtlCol="0" anchor="ctr"/>
          <a:lstStyle/>
          <a:p>
            <a:pPr marL="0" indent="0">
              <a:buNone/>
            </a:pPr>
            <a:r>
              <a:rPr lang="en-US" sz="1100" b="1" kern="0" spc="200" dirty="0">
                <a:solidFill>
                  <a:srgbClr val="3DA8DD"/>
                </a:solidFill>
                <a:latin typeface="Aptos" panose="020B0004020202020204" pitchFamily="34" charset="0"/>
                <a:ea typeface="Open Sans" pitchFamily="34" charset="-122"/>
                <a:cs typeface="Open Sans" pitchFamily="34" charset="-120"/>
              </a:rPr>
              <a:t>REGULATORY &amp; REIMBURSEMENT</a:t>
            </a:r>
            <a:endParaRPr lang="en-US" sz="1100" dirty="0">
              <a:latin typeface="Aptos" panose="020B0004020202020204" pitchFamily="34" charset="0"/>
            </a:endParaRPr>
          </a:p>
        </p:txBody>
      </p:sp>
      <p:sp>
        <p:nvSpPr>
          <p:cNvPr id="3" name="Shape 1"/>
          <p:cNvSpPr/>
          <p:nvPr/>
        </p:nvSpPr>
        <p:spPr>
          <a:xfrm>
            <a:off x="411480" y="566928"/>
            <a:ext cx="457200" cy="36576"/>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4" name="Text 2"/>
          <p:cNvSpPr/>
          <p:nvPr/>
        </p:nvSpPr>
        <p:spPr>
          <a:xfrm>
            <a:off x="411480" y="713232"/>
            <a:ext cx="8321040" cy="914400"/>
          </a:xfrm>
          <a:prstGeom prst="rect">
            <a:avLst/>
          </a:prstGeom>
          <a:noFill/>
          <a:ln/>
        </p:spPr>
        <p:txBody>
          <a:bodyPr wrap="square" lIns="0" tIns="0" rIns="0" bIns="0" rtlCol="0" anchor="t"/>
          <a:lstStyle/>
          <a:p>
            <a:pPr marL="0" indent="0">
              <a:buNone/>
            </a:pPr>
            <a:r>
              <a:rPr lang="en-US" sz="2400" b="1" dirty="0">
                <a:solidFill>
                  <a:srgbClr val="0E2841"/>
                </a:solidFill>
                <a:latin typeface="Aptos" panose="020B0004020202020204" pitchFamily="34" charset="0"/>
                <a:ea typeface="Open Sans" pitchFamily="34" charset="-122"/>
                <a:cs typeface="Open Sans" pitchFamily="34" charset="-120"/>
              </a:rPr>
              <a:t>Proposed CPT III code presented to the AMA Editorial Panel</a:t>
            </a:r>
            <a:endParaRPr lang="en-US" sz="2400" dirty="0">
              <a:latin typeface="Aptos" panose="020B0004020202020204" pitchFamily="34" charset="0"/>
            </a:endParaRPr>
          </a:p>
        </p:txBody>
      </p:sp>
      <p:sp>
        <p:nvSpPr>
          <p:cNvPr id="5" name="Text 3"/>
          <p:cNvSpPr/>
          <p:nvPr/>
        </p:nvSpPr>
        <p:spPr>
          <a:xfrm>
            <a:off x="411480" y="1370496"/>
            <a:ext cx="8321040" cy="502920"/>
          </a:xfrm>
          <a:prstGeom prst="rect">
            <a:avLst/>
          </a:prstGeom>
          <a:noFill/>
          <a:ln/>
        </p:spPr>
        <p:txBody>
          <a:bodyPr wrap="square" lIns="0" tIns="0" rIns="0" bIns="0" rtlCol="0" anchor="t"/>
          <a:lstStyle/>
          <a:p>
            <a:pPr marL="0" indent="0">
              <a:buNone/>
            </a:pPr>
            <a:r>
              <a:rPr lang="en-US" sz="1300" dirty="0">
                <a:solidFill>
                  <a:srgbClr val="1F2A37"/>
                </a:solidFill>
                <a:latin typeface="Aptos" panose="020B0004020202020204" pitchFamily="34" charset="0"/>
                <a:ea typeface="Open Sans" pitchFamily="34" charset="-122"/>
                <a:cs typeface="Open Sans" pitchFamily="34" charset="-120"/>
              </a:rPr>
              <a:t>A CPT III code establishes the reimbursement infrastructure required for downstream coverage discussions and payer adoption.</a:t>
            </a:r>
            <a:endParaRPr lang="en-US" sz="1300" dirty="0">
              <a:latin typeface="Aptos" panose="020B0004020202020204" pitchFamily="34" charset="0"/>
            </a:endParaRPr>
          </a:p>
        </p:txBody>
      </p:sp>
      <p:sp>
        <p:nvSpPr>
          <p:cNvPr id="6" name="Shape 4"/>
          <p:cNvSpPr/>
          <p:nvPr/>
        </p:nvSpPr>
        <p:spPr>
          <a:xfrm>
            <a:off x="411480" y="2035862"/>
            <a:ext cx="2651760" cy="187452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7" name="Shape 5"/>
          <p:cNvSpPr/>
          <p:nvPr/>
        </p:nvSpPr>
        <p:spPr>
          <a:xfrm>
            <a:off x="411480" y="2035862"/>
            <a:ext cx="2651760" cy="54864"/>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8" name="Text 6"/>
          <p:cNvSpPr/>
          <p:nvPr/>
        </p:nvSpPr>
        <p:spPr>
          <a:xfrm>
            <a:off x="612648" y="2218742"/>
            <a:ext cx="2286000" cy="457200"/>
          </a:xfrm>
          <a:prstGeom prst="rect">
            <a:avLst/>
          </a:prstGeom>
          <a:noFill/>
          <a:ln/>
        </p:spPr>
        <p:txBody>
          <a:bodyPr wrap="square" lIns="0" tIns="0" rIns="0" bIns="0" rtlCol="0" anchor="t"/>
          <a:lstStyle/>
          <a:p>
            <a:pPr marL="0" indent="0">
              <a:buNone/>
            </a:pPr>
            <a:r>
              <a:rPr lang="en-US" sz="2200" b="1" dirty="0">
                <a:solidFill>
                  <a:srgbClr val="3DA8DD"/>
                </a:solidFill>
                <a:latin typeface="Aptos" panose="020B0004020202020204" pitchFamily="34" charset="0"/>
                <a:ea typeface="Open Sans" pitchFamily="34" charset="-122"/>
                <a:cs typeface="Open Sans" pitchFamily="34" charset="-120"/>
              </a:rPr>
              <a:t>May 1, 2026</a:t>
            </a:r>
            <a:endParaRPr lang="en-US" sz="2200" dirty="0">
              <a:latin typeface="Aptos" panose="020B0004020202020204" pitchFamily="34" charset="0"/>
            </a:endParaRPr>
          </a:p>
        </p:txBody>
      </p:sp>
      <p:sp>
        <p:nvSpPr>
          <p:cNvPr id="9" name="Text 7"/>
          <p:cNvSpPr/>
          <p:nvPr/>
        </p:nvSpPr>
        <p:spPr>
          <a:xfrm>
            <a:off x="612648" y="2721662"/>
            <a:ext cx="2286000" cy="365760"/>
          </a:xfrm>
          <a:prstGeom prst="rect">
            <a:avLst/>
          </a:prstGeom>
          <a:noFill/>
          <a:ln/>
        </p:spPr>
        <p:txBody>
          <a:bodyPr wrap="square" lIns="0" tIns="0" rIns="0" bIns="0" rtlCol="0" anchor="t"/>
          <a:lstStyle/>
          <a:p>
            <a:pPr marL="0" indent="0">
              <a:buNone/>
            </a:pPr>
            <a:r>
              <a:rPr lang="en-US" sz="1100" b="1" dirty="0">
                <a:solidFill>
                  <a:srgbClr val="0E2841"/>
                </a:solidFill>
                <a:latin typeface="Aptos" panose="020B0004020202020204" pitchFamily="34" charset="0"/>
                <a:ea typeface="Open Sans" pitchFamily="34" charset="-122"/>
                <a:cs typeface="Open Sans" pitchFamily="34" charset="-120"/>
              </a:rPr>
              <a:t>Presentation delivered</a:t>
            </a:r>
            <a:endParaRPr lang="en-US" sz="1100" dirty="0">
              <a:latin typeface="Aptos" panose="020B0004020202020204" pitchFamily="34" charset="0"/>
            </a:endParaRPr>
          </a:p>
        </p:txBody>
      </p:sp>
      <p:sp>
        <p:nvSpPr>
          <p:cNvPr id="10" name="Text 8"/>
          <p:cNvSpPr/>
          <p:nvPr/>
        </p:nvSpPr>
        <p:spPr>
          <a:xfrm>
            <a:off x="612648" y="3133142"/>
            <a:ext cx="2286000" cy="731520"/>
          </a:xfrm>
          <a:prstGeom prst="rect">
            <a:avLst/>
          </a:prstGeom>
          <a:noFill/>
          <a:ln/>
        </p:spPr>
        <p:txBody>
          <a:bodyPr wrap="square" lIns="0" tIns="0" rIns="0" bIns="0" rtlCol="0" anchor="t"/>
          <a:lstStyle/>
          <a:p>
            <a:pPr marL="0" indent="0">
              <a:buNone/>
            </a:pPr>
            <a:r>
              <a:rPr lang="en-US" sz="1000" dirty="0">
                <a:solidFill>
                  <a:srgbClr val="1F2A37"/>
                </a:solidFill>
                <a:latin typeface="Aptos" panose="020B0004020202020204" pitchFamily="34" charset="0"/>
                <a:ea typeface="Open Sans" pitchFamily="34" charset="-122"/>
                <a:cs typeface="Open Sans" pitchFamily="34" charset="-120"/>
              </a:rPr>
              <a:t>Proposed CPT III code presented at the AMA CPT Editorial Panel meeting.</a:t>
            </a:r>
            <a:endParaRPr lang="en-US" sz="1000" dirty="0">
              <a:latin typeface="Aptos" panose="020B0004020202020204" pitchFamily="34" charset="0"/>
            </a:endParaRPr>
          </a:p>
        </p:txBody>
      </p:sp>
      <p:sp>
        <p:nvSpPr>
          <p:cNvPr id="11" name="Shape 9"/>
          <p:cNvSpPr/>
          <p:nvPr/>
        </p:nvSpPr>
        <p:spPr>
          <a:xfrm>
            <a:off x="3246120" y="2035862"/>
            <a:ext cx="2651760" cy="187452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12" name="Shape 10"/>
          <p:cNvSpPr/>
          <p:nvPr/>
        </p:nvSpPr>
        <p:spPr>
          <a:xfrm>
            <a:off x="3246120" y="2035862"/>
            <a:ext cx="2651760" cy="54864"/>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13" name="Text 11"/>
          <p:cNvSpPr/>
          <p:nvPr/>
        </p:nvSpPr>
        <p:spPr>
          <a:xfrm>
            <a:off x="3447288" y="2218742"/>
            <a:ext cx="2286000" cy="457200"/>
          </a:xfrm>
          <a:prstGeom prst="rect">
            <a:avLst/>
          </a:prstGeom>
          <a:noFill/>
          <a:ln/>
        </p:spPr>
        <p:txBody>
          <a:bodyPr wrap="square" lIns="0" tIns="0" rIns="0" bIns="0" rtlCol="0" anchor="t"/>
          <a:lstStyle/>
          <a:p>
            <a:pPr marL="0" indent="0">
              <a:buNone/>
            </a:pPr>
            <a:r>
              <a:rPr lang="en-US" sz="2200" b="1" dirty="0">
                <a:solidFill>
                  <a:srgbClr val="3DA8DD"/>
                </a:solidFill>
                <a:latin typeface="Aptos" panose="020B0004020202020204" pitchFamily="34" charset="0"/>
                <a:ea typeface="Open Sans" pitchFamily="34" charset="-122"/>
                <a:cs typeface="Open Sans" pitchFamily="34" charset="-120"/>
              </a:rPr>
              <a:t>Panel + ACC</a:t>
            </a:r>
            <a:endParaRPr lang="en-US" sz="2200" dirty="0">
              <a:latin typeface="Aptos" panose="020B0004020202020204" pitchFamily="34" charset="0"/>
            </a:endParaRPr>
          </a:p>
        </p:txBody>
      </p:sp>
      <p:sp>
        <p:nvSpPr>
          <p:cNvPr id="14" name="Text 12"/>
          <p:cNvSpPr/>
          <p:nvPr/>
        </p:nvSpPr>
        <p:spPr>
          <a:xfrm>
            <a:off x="3447288" y="2721662"/>
            <a:ext cx="2286000" cy="365760"/>
          </a:xfrm>
          <a:prstGeom prst="rect">
            <a:avLst/>
          </a:prstGeom>
          <a:noFill/>
          <a:ln/>
        </p:spPr>
        <p:txBody>
          <a:bodyPr wrap="square" lIns="0" tIns="0" rIns="0" bIns="0" rtlCol="0" anchor="t"/>
          <a:lstStyle/>
          <a:p>
            <a:pPr marL="0" indent="0">
              <a:buNone/>
            </a:pPr>
            <a:r>
              <a:rPr lang="en-US" sz="1100" b="1" dirty="0">
                <a:solidFill>
                  <a:srgbClr val="0E2841"/>
                </a:solidFill>
                <a:latin typeface="Aptos" panose="020B0004020202020204" pitchFamily="34" charset="0"/>
                <a:ea typeface="Open Sans" pitchFamily="34" charset="-122"/>
                <a:cs typeface="Open Sans" pitchFamily="34" charset="-120"/>
              </a:rPr>
              <a:t>Endorsement entering meeting</a:t>
            </a:r>
            <a:endParaRPr lang="en-US" sz="1100" dirty="0">
              <a:latin typeface="Aptos" panose="020B0004020202020204" pitchFamily="34" charset="0"/>
            </a:endParaRPr>
          </a:p>
        </p:txBody>
      </p:sp>
      <p:sp>
        <p:nvSpPr>
          <p:cNvPr id="15" name="Text 13"/>
          <p:cNvSpPr/>
          <p:nvPr/>
        </p:nvSpPr>
        <p:spPr>
          <a:xfrm>
            <a:off x="3447288" y="3133142"/>
            <a:ext cx="2286000" cy="731520"/>
          </a:xfrm>
          <a:prstGeom prst="rect">
            <a:avLst/>
          </a:prstGeom>
          <a:noFill/>
          <a:ln/>
        </p:spPr>
        <p:txBody>
          <a:bodyPr wrap="square" lIns="0" tIns="0" rIns="0" bIns="0" rtlCol="0" anchor="t"/>
          <a:lstStyle/>
          <a:p>
            <a:pPr marL="0" indent="0">
              <a:buNone/>
            </a:pPr>
            <a:r>
              <a:rPr lang="en-US" sz="1000" dirty="0">
                <a:solidFill>
                  <a:srgbClr val="1F2A37"/>
                </a:solidFill>
                <a:latin typeface="Aptos" panose="020B0004020202020204" pitchFamily="34" charset="0"/>
                <a:ea typeface="Open Sans" pitchFamily="34" charset="-122"/>
                <a:cs typeface="Open Sans" pitchFamily="34" charset="-120"/>
              </a:rPr>
              <a:t>Constructive engagement from panel reviewers; formal support from the American College of Cardiology.</a:t>
            </a:r>
            <a:endParaRPr lang="en-US" sz="1000" dirty="0">
              <a:latin typeface="Aptos" panose="020B0004020202020204" pitchFamily="34" charset="0"/>
            </a:endParaRPr>
          </a:p>
        </p:txBody>
      </p:sp>
      <p:sp>
        <p:nvSpPr>
          <p:cNvPr id="16" name="Shape 14"/>
          <p:cNvSpPr/>
          <p:nvPr/>
        </p:nvSpPr>
        <p:spPr>
          <a:xfrm>
            <a:off x="6080760" y="2035862"/>
            <a:ext cx="2651760" cy="187452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17" name="Shape 15"/>
          <p:cNvSpPr/>
          <p:nvPr/>
        </p:nvSpPr>
        <p:spPr>
          <a:xfrm>
            <a:off x="6080760" y="2035862"/>
            <a:ext cx="2651760" cy="54864"/>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18" name="Text 16"/>
          <p:cNvSpPr/>
          <p:nvPr/>
        </p:nvSpPr>
        <p:spPr>
          <a:xfrm>
            <a:off x="6281928" y="2218742"/>
            <a:ext cx="2286000" cy="457200"/>
          </a:xfrm>
          <a:prstGeom prst="rect">
            <a:avLst/>
          </a:prstGeom>
          <a:noFill/>
          <a:ln/>
        </p:spPr>
        <p:txBody>
          <a:bodyPr wrap="square" lIns="0" tIns="0" rIns="0" bIns="0" rtlCol="0" anchor="t"/>
          <a:lstStyle/>
          <a:p>
            <a:pPr marL="0" indent="0">
              <a:buNone/>
            </a:pPr>
            <a:r>
              <a:rPr lang="en-US" sz="2200" b="1" dirty="0">
                <a:solidFill>
                  <a:srgbClr val="3DA8DD"/>
                </a:solidFill>
                <a:latin typeface="Aptos" panose="020B0004020202020204" pitchFamily="34" charset="0"/>
                <a:ea typeface="Open Sans" pitchFamily="34" charset="-122"/>
                <a:cs typeface="Open Sans" pitchFamily="34" charset="-120"/>
              </a:rPr>
              <a:t>Pending</a:t>
            </a:r>
            <a:endParaRPr lang="en-US" sz="2200" dirty="0">
              <a:latin typeface="Aptos" panose="020B0004020202020204" pitchFamily="34" charset="0"/>
            </a:endParaRPr>
          </a:p>
        </p:txBody>
      </p:sp>
      <p:sp>
        <p:nvSpPr>
          <p:cNvPr id="19" name="Text 17"/>
          <p:cNvSpPr/>
          <p:nvPr/>
        </p:nvSpPr>
        <p:spPr>
          <a:xfrm>
            <a:off x="6281928" y="2721662"/>
            <a:ext cx="2286000" cy="365760"/>
          </a:xfrm>
          <a:prstGeom prst="rect">
            <a:avLst/>
          </a:prstGeom>
          <a:noFill/>
          <a:ln/>
        </p:spPr>
        <p:txBody>
          <a:bodyPr wrap="square" lIns="0" tIns="0" rIns="0" bIns="0" rtlCol="0" anchor="t"/>
          <a:lstStyle/>
          <a:p>
            <a:pPr marL="0" indent="0">
              <a:buNone/>
            </a:pPr>
            <a:r>
              <a:rPr lang="en-US" sz="1100" b="1" dirty="0">
                <a:solidFill>
                  <a:srgbClr val="0E2841"/>
                </a:solidFill>
                <a:latin typeface="Aptos" panose="020B0004020202020204" pitchFamily="34" charset="0"/>
                <a:ea typeface="Open Sans" pitchFamily="34" charset="-122"/>
                <a:cs typeface="Open Sans" pitchFamily="34" charset="-120"/>
              </a:rPr>
              <a:t>Awaiting determination</a:t>
            </a:r>
            <a:endParaRPr lang="en-US" sz="1100" dirty="0">
              <a:latin typeface="Aptos" panose="020B0004020202020204" pitchFamily="34" charset="0"/>
            </a:endParaRPr>
          </a:p>
        </p:txBody>
      </p:sp>
      <p:sp>
        <p:nvSpPr>
          <p:cNvPr id="20" name="Text 18"/>
          <p:cNvSpPr/>
          <p:nvPr/>
        </p:nvSpPr>
        <p:spPr>
          <a:xfrm>
            <a:off x="6281928" y="3133142"/>
            <a:ext cx="2286000" cy="731520"/>
          </a:xfrm>
          <a:prstGeom prst="rect">
            <a:avLst/>
          </a:prstGeom>
          <a:noFill/>
          <a:ln/>
        </p:spPr>
        <p:txBody>
          <a:bodyPr wrap="square" lIns="0" tIns="0" rIns="0" bIns="0" rtlCol="0" anchor="t"/>
          <a:lstStyle/>
          <a:p>
            <a:pPr marL="0" indent="0">
              <a:buNone/>
            </a:pPr>
            <a:r>
              <a:rPr lang="en-US" sz="1000" dirty="0">
                <a:solidFill>
                  <a:srgbClr val="1F2A37"/>
                </a:solidFill>
                <a:latin typeface="Aptos" panose="020B0004020202020204" pitchFamily="34" charset="0"/>
                <a:ea typeface="Open Sans" pitchFamily="34" charset="-122"/>
                <a:cs typeface="Open Sans" pitchFamily="34" charset="-120"/>
              </a:rPr>
              <a:t>Official decision expected in coming months; we remain optimistic on the path forward.</a:t>
            </a:r>
            <a:endParaRPr lang="en-US" sz="1000" dirty="0">
              <a:latin typeface="Aptos" panose="020B0004020202020204" pitchFamily="34" charset="0"/>
            </a:endParaRPr>
          </a:p>
        </p:txBody>
      </p:sp>
      <p:sp>
        <p:nvSpPr>
          <p:cNvPr id="21" name="Shape 19"/>
          <p:cNvSpPr/>
          <p:nvPr/>
        </p:nvSpPr>
        <p:spPr>
          <a:xfrm>
            <a:off x="411480" y="4131463"/>
            <a:ext cx="8321040" cy="384048"/>
          </a:xfrm>
          <a:prstGeom prst="rect">
            <a:avLst/>
          </a:prstGeom>
          <a:solidFill>
            <a:srgbClr val="0B2A4A"/>
          </a:solidFill>
          <a:ln w="12700">
            <a:solidFill>
              <a:srgbClr val="0B2A4A"/>
            </a:solidFill>
            <a:prstDash val="solid"/>
          </a:ln>
        </p:spPr>
        <p:txBody>
          <a:bodyPr/>
          <a:lstStyle/>
          <a:p>
            <a:endParaRPr lang="en-US">
              <a:latin typeface="Aptos" panose="020B0004020202020204" pitchFamily="34" charset="0"/>
            </a:endParaRPr>
          </a:p>
        </p:txBody>
      </p:sp>
      <p:sp>
        <p:nvSpPr>
          <p:cNvPr id="22" name="Text 20"/>
          <p:cNvSpPr/>
          <p:nvPr/>
        </p:nvSpPr>
        <p:spPr>
          <a:xfrm>
            <a:off x="640080" y="4131463"/>
            <a:ext cx="7863840" cy="384048"/>
          </a:xfrm>
          <a:prstGeom prst="rect">
            <a:avLst/>
          </a:prstGeom>
          <a:noFill/>
          <a:ln/>
        </p:spPr>
        <p:txBody>
          <a:bodyPr wrap="square" lIns="0" tIns="0" rIns="0" bIns="0" rtlCol="0" anchor="ctr"/>
          <a:lstStyle/>
          <a:p>
            <a:pPr marL="0" indent="0">
              <a:buNone/>
            </a:pPr>
            <a:r>
              <a:rPr lang="en-US" sz="1200" b="1" dirty="0">
                <a:solidFill>
                  <a:srgbClr val="FFFFFF"/>
                </a:solidFill>
                <a:latin typeface="Aptos" panose="020B0004020202020204" pitchFamily="34" charset="0"/>
                <a:ea typeface="Open Sans" pitchFamily="34" charset="-122"/>
                <a:cs typeface="Open Sans" pitchFamily="34" charset="-120"/>
              </a:rPr>
              <a:t>Why it matters: </a:t>
            </a:r>
            <a:r>
              <a:rPr lang="en-US" sz="1200" dirty="0">
                <a:solidFill>
                  <a:srgbClr val="FFFFFF"/>
                </a:solidFill>
                <a:latin typeface="Aptos" panose="020B0004020202020204" pitchFamily="34" charset="0"/>
                <a:ea typeface="Open Sans" pitchFamily="34" charset="-122"/>
                <a:cs typeface="Open Sans" pitchFamily="34" charset="-120"/>
              </a:rPr>
              <a:t>a CPT III code is the foundation for </a:t>
            </a:r>
            <a:r>
              <a:rPr lang="en-US" sz="1200" b="1" dirty="0">
                <a:solidFill>
                  <a:srgbClr val="F5C443"/>
                </a:solidFill>
                <a:latin typeface="Aptos" panose="020B0004020202020204" pitchFamily="34" charset="0"/>
                <a:ea typeface="Open Sans" pitchFamily="34" charset="-122"/>
                <a:cs typeface="Open Sans" pitchFamily="34" charset="-120"/>
              </a:rPr>
              <a:t>downstream coverage and payer adoption</a:t>
            </a:r>
            <a:r>
              <a:rPr lang="en-US" sz="1200" dirty="0">
                <a:solidFill>
                  <a:srgbClr val="FFFFFF"/>
                </a:solidFill>
                <a:latin typeface="Aptos" panose="020B0004020202020204" pitchFamily="34" charset="0"/>
                <a:ea typeface="Open Sans" pitchFamily="34" charset="-122"/>
                <a:cs typeface="Open Sans" pitchFamily="34" charset="-120"/>
              </a:rPr>
              <a:t> of the CorVista System.</a:t>
            </a:r>
            <a:endParaRPr lang="en-US" sz="1200" dirty="0">
              <a:latin typeface="Aptos" panose="020B0004020202020204" pitchFamily="34" charset="0"/>
            </a:endParaRPr>
          </a:p>
        </p:txBody>
      </p:sp>
      <p:sp>
        <p:nvSpPr>
          <p:cNvPr id="23" name="Shape 21"/>
          <p:cNvSpPr/>
          <p:nvPr/>
        </p:nvSpPr>
        <p:spPr>
          <a:xfrm>
            <a:off x="365760" y="4736592"/>
            <a:ext cx="8412480" cy="10973"/>
          </a:xfrm>
          <a:prstGeom prst="rect">
            <a:avLst/>
          </a:prstGeom>
          <a:solidFill>
            <a:srgbClr val="DDE2E7"/>
          </a:solidFill>
          <a:ln w="12700">
            <a:solidFill>
              <a:srgbClr val="DDE2E7"/>
            </a:solidFill>
            <a:prstDash val="solid"/>
          </a:ln>
        </p:spPr>
        <p:txBody>
          <a:bodyPr/>
          <a:lstStyle/>
          <a:p>
            <a:endParaRPr lang="en-US">
              <a:latin typeface="Aptos" panose="020B0004020202020204" pitchFamily="34" charset="0"/>
            </a:endParaRPr>
          </a:p>
        </p:txBody>
      </p:sp>
      <p:sp>
        <p:nvSpPr>
          <p:cNvPr id="24" name="Text 22"/>
          <p:cNvSpPr/>
          <p:nvPr/>
        </p:nvSpPr>
        <p:spPr>
          <a:xfrm>
            <a:off x="365760" y="4800600"/>
            <a:ext cx="365760" cy="274320"/>
          </a:xfrm>
          <a:prstGeom prst="rect">
            <a:avLst/>
          </a:prstGeom>
          <a:noFill/>
          <a:ln/>
        </p:spPr>
        <p:txBody>
          <a:bodyPr wrap="square" lIns="0" tIns="0" rIns="0" bIns="0" rtlCol="0" anchor="ctr"/>
          <a:lstStyle/>
          <a:p>
            <a:pPr marL="0" indent="0">
              <a:buNone/>
            </a:pPr>
            <a:r>
              <a:rPr lang="en-US" sz="900" dirty="0">
                <a:solidFill>
                  <a:srgbClr val="5B6B7F"/>
                </a:solidFill>
                <a:latin typeface="Aptos" panose="020B0004020202020204" pitchFamily="34" charset="0"/>
                <a:ea typeface="Open Sans" pitchFamily="34" charset="-122"/>
                <a:cs typeface="Open Sans" pitchFamily="34" charset="-120"/>
              </a:rPr>
              <a:t>5</a:t>
            </a:r>
            <a:endParaRPr lang="en-US" sz="900" dirty="0">
              <a:latin typeface="Aptos" panose="020B0004020202020204" pitchFamily="34" charset="0"/>
            </a:endParaRPr>
          </a:p>
        </p:txBody>
      </p:sp>
      <p:pic>
        <p:nvPicPr>
          <p:cNvPr id="26" name="Image 0" descr="/mnt/data/cvh_unzip/ppt/media/image1.png">
            <a:extLst>
              <a:ext uri="{FF2B5EF4-FFF2-40B4-BE49-F238E27FC236}">
                <a16:creationId xmlns:a16="http://schemas.microsoft.com/office/drawing/2014/main" id="{6D8B2F45-32F1-FA9B-7242-B6B63080A74D}"/>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745908" y="4856278"/>
            <a:ext cx="1234440" cy="1629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411480" y="320040"/>
            <a:ext cx="3657600" cy="228600"/>
          </a:xfrm>
          <a:prstGeom prst="rect">
            <a:avLst/>
          </a:prstGeom>
          <a:noFill/>
          <a:ln/>
        </p:spPr>
        <p:txBody>
          <a:bodyPr wrap="square" lIns="0" tIns="0" rIns="0" bIns="0" rtlCol="0" anchor="ctr"/>
          <a:lstStyle/>
          <a:p>
            <a:pPr marL="0" indent="0">
              <a:buNone/>
            </a:pPr>
            <a:r>
              <a:rPr lang="en-US" sz="1100" b="1" kern="0" spc="200" dirty="0">
                <a:solidFill>
                  <a:srgbClr val="3DA8DD"/>
                </a:solidFill>
                <a:latin typeface="Aptos" panose="020B0004020202020204" pitchFamily="34" charset="0"/>
                <a:ea typeface="Open Sans" pitchFamily="34" charset="-122"/>
                <a:cs typeface="Open Sans" pitchFamily="34" charset="-120"/>
              </a:rPr>
              <a:t>LOOKING FORWARD</a:t>
            </a:r>
            <a:endParaRPr lang="en-US" sz="1100" dirty="0">
              <a:latin typeface="Aptos" panose="020B0004020202020204" pitchFamily="34" charset="0"/>
            </a:endParaRPr>
          </a:p>
        </p:txBody>
      </p:sp>
      <p:sp>
        <p:nvSpPr>
          <p:cNvPr id="3" name="Shape 1"/>
          <p:cNvSpPr/>
          <p:nvPr/>
        </p:nvSpPr>
        <p:spPr>
          <a:xfrm>
            <a:off x="411480" y="566928"/>
            <a:ext cx="457200" cy="36576"/>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4" name="Text 2"/>
          <p:cNvSpPr/>
          <p:nvPr/>
        </p:nvSpPr>
        <p:spPr>
          <a:xfrm>
            <a:off x="411480" y="713232"/>
            <a:ext cx="8321040" cy="502920"/>
          </a:xfrm>
          <a:prstGeom prst="rect">
            <a:avLst/>
          </a:prstGeom>
          <a:noFill/>
          <a:ln/>
        </p:spPr>
        <p:txBody>
          <a:bodyPr wrap="square" lIns="0" tIns="0" rIns="0" bIns="0" rtlCol="0" anchor="t"/>
          <a:lstStyle/>
          <a:p>
            <a:pPr marL="0" indent="0">
              <a:buNone/>
            </a:pPr>
            <a:r>
              <a:rPr lang="en-US" sz="2400" b="1" dirty="0">
                <a:solidFill>
                  <a:srgbClr val="0E2841"/>
                </a:solidFill>
                <a:latin typeface="Aptos" panose="020B0004020202020204" pitchFamily="34" charset="0"/>
                <a:ea typeface="Open Sans" pitchFamily="34" charset="-122"/>
                <a:cs typeface="Open Sans" pitchFamily="34" charset="-120"/>
              </a:rPr>
              <a:t>Near-term pipeline and upcoming milestones</a:t>
            </a:r>
            <a:endParaRPr lang="en-US" sz="2400" dirty="0">
              <a:latin typeface="Aptos" panose="020B0004020202020204" pitchFamily="34" charset="0"/>
            </a:endParaRPr>
          </a:p>
        </p:txBody>
      </p:sp>
      <p:sp>
        <p:nvSpPr>
          <p:cNvPr id="5" name="Text 3"/>
          <p:cNvSpPr/>
          <p:nvPr/>
        </p:nvSpPr>
        <p:spPr>
          <a:xfrm>
            <a:off x="411480" y="1371600"/>
            <a:ext cx="5120640" cy="274320"/>
          </a:xfrm>
          <a:prstGeom prst="rect">
            <a:avLst/>
          </a:prstGeom>
          <a:noFill/>
          <a:ln/>
        </p:spPr>
        <p:txBody>
          <a:bodyPr wrap="square" lIns="0" tIns="0" rIns="0" bIns="0" rtlCol="0" anchor="ctr"/>
          <a:lstStyle/>
          <a:p>
            <a:pPr marL="0" indent="0">
              <a:buNone/>
            </a:pPr>
            <a:r>
              <a:rPr lang="en-US" sz="1050" b="1" kern="0" spc="200" dirty="0">
                <a:solidFill>
                  <a:srgbClr val="0E2841"/>
                </a:solidFill>
                <a:latin typeface="Aptos" panose="020B0004020202020204" pitchFamily="34" charset="0"/>
                <a:ea typeface="Open Sans" pitchFamily="34" charset="-122"/>
                <a:cs typeface="Open Sans" pitchFamily="34" charset="-120"/>
              </a:rPr>
              <a:t>ACTIVE PIPELINE</a:t>
            </a:r>
            <a:endParaRPr lang="en-US" sz="1050" dirty="0">
              <a:latin typeface="Aptos" panose="020B0004020202020204" pitchFamily="34" charset="0"/>
            </a:endParaRPr>
          </a:p>
        </p:txBody>
      </p:sp>
      <p:sp>
        <p:nvSpPr>
          <p:cNvPr id="6" name="Shape 4"/>
          <p:cNvSpPr/>
          <p:nvPr/>
        </p:nvSpPr>
        <p:spPr>
          <a:xfrm>
            <a:off x="411480" y="1691640"/>
            <a:ext cx="5120640" cy="59436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7" name="Shape 5"/>
          <p:cNvSpPr/>
          <p:nvPr/>
        </p:nvSpPr>
        <p:spPr>
          <a:xfrm>
            <a:off x="411480" y="1691640"/>
            <a:ext cx="73152" cy="594360"/>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8" name="Text 6"/>
          <p:cNvSpPr/>
          <p:nvPr/>
        </p:nvSpPr>
        <p:spPr>
          <a:xfrm>
            <a:off x="612648" y="1764792"/>
            <a:ext cx="4846320" cy="274320"/>
          </a:xfrm>
          <a:prstGeom prst="rect">
            <a:avLst/>
          </a:prstGeom>
          <a:noFill/>
          <a:ln/>
        </p:spPr>
        <p:txBody>
          <a:bodyPr wrap="square" lIns="0" tIns="0" rIns="0" bIns="0" rtlCol="0" anchor="ctr"/>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Academic Medical Center</a:t>
            </a:r>
            <a:endParaRPr lang="en-US" sz="1200" dirty="0">
              <a:latin typeface="Aptos" panose="020B0004020202020204" pitchFamily="34" charset="0"/>
            </a:endParaRPr>
          </a:p>
        </p:txBody>
      </p:sp>
      <p:sp>
        <p:nvSpPr>
          <p:cNvPr id="9" name="Text 7"/>
          <p:cNvSpPr/>
          <p:nvPr/>
        </p:nvSpPr>
        <p:spPr>
          <a:xfrm>
            <a:off x="612648" y="2011680"/>
            <a:ext cx="4846320" cy="256032"/>
          </a:xfrm>
          <a:prstGeom prst="rect">
            <a:avLst/>
          </a:prstGeom>
          <a:noFill/>
          <a:ln/>
        </p:spPr>
        <p:txBody>
          <a:bodyPr wrap="square" lIns="0" tIns="0" rIns="0" bIns="0" rtlCol="0" anchor="ctr"/>
          <a:lstStyle/>
          <a:p>
            <a:pPr marL="0" indent="0">
              <a:buNone/>
            </a:pPr>
            <a:r>
              <a:rPr lang="en-US" sz="1050" i="1" dirty="0">
                <a:solidFill>
                  <a:srgbClr val="1F2A37"/>
                </a:solidFill>
                <a:latin typeface="Aptos" panose="020B0004020202020204" pitchFamily="34" charset="0"/>
                <a:ea typeface="Open Sans" pitchFamily="34" charset="-122"/>
                <a:cs typeface="Open Sans" pitchFamily="34" charset="-120"/>
              </a:rPr>
              <a:t>Research collaboration in scoping (PH)</a:t>
            </a:r>
            <a:endParaRPr lang="en-US" sz="1050" dirty="0">
              <a:latin typeface="Aptos" panose="020B0004020202020204" pitchFamily="34" charset="0"/>
            </a:endParaRPr>
          </a:p>
        </p:txBody>
      </p:sp>
      <p:sp>
        <p:nvSpPr>
          <p:cNvPr id="10" name="Shape 8"/>
          <p:cNvSpPr/>
          <p:nvPr/>
        </p:nvSpPr>
        <p:spPr>
          <a:xfrm>
            <a:off x="411480" y="2377440"/>
            <a:ext cx="5120640" cy="59436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11" name="Shape 9"/>
          <p:cNvSpPr/>
          <p:nvPr/>
        </p:nvSpPr>
        <p:spPr>
          <a:xfrm>
            <a:off x="411480" y="2377440"/>
            <a:ext cx="73152" cy="594360"/>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12" name="Text 10"/>
          <p:cNvSpPr/>
          <p:nvPr/>
        </p:nvSpPr>
        <p:spPr>
          <a:xfrm>
            <a:off x="612648" y="2450592"/>
            <a:ext cx="4846320" cy="274320"/>
          </a:xfrm>
          <a:prstGeom prst="rect">
            <a:avLst/>
          </a:prstGeom>
          <a:noFill/>
          <a:ln/>
        </p:spPr>
        <p:txBody>
          <a:bodyPr wrap="square" lIns="0" tIns="0" rIns="0" bIns="0" rtlCol="0" anchor="ctr"/>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National Cardiology Practice Network</a:t>
            </a:r>
            <a:endParaRPr lang="en-US" sz="1200" dirty="0">
              <a:latin typeface="Aptos" panose="020B0004020202020204" pitchFamily="34" charset="0"/>
            </a:endParaRPr>
          </a:p>
        </p:txBody>
      </p:sp>
      <p:sp>
        <p:nvSpPr>
          <p:cNvPr id="13" name="Text 11"/>
          <p:cNvSpPr/>
          <p:nvPr/>
        </p:nvSpPr>
        <p:spPr>
          <a:xfrm>
            <a:off x="612648" y="2697480"/>
            <a:ext cx="4846320" cy="256032"/>
          </a:xfrm>
          <a:prstGeom prst="rect">
            <a:avLst/>
          </a:prstGeom>
          <a:noFill/>
          <a:ln/>
        </p:spPr>
        <p:txBody>
          <a:bodyPr wrap="square" lIns="0" tIns="0" rIns="0" bIns="0" rtlCol="0" anchor="ctr"/>
          <a:lstStyle/>
          <a:p>
            <a:pPr marL="0" indent="0">
              <a:buNone/>
            </a:pPr>
            <a:r>
              <a:rPr lang="en-US" sz="1050" i="1" dirty="0">
                <a:solidFill>
                  <a:srgbClr val="1F2A37"/>
                </a:solidFill>
                <a:latin typeface="Aptos" panose="020B0004020202020204" pitchFamily="34" charset="0"/>
                <a:ea typeface="Open Sans" pitchFamily="34" charset="-122"/>
                <a:cs typeface="Open Sans" pitchFamily="34" charset="-120"/>
              </a:rPr>
              <a:t>Multi-site research collaboration in discussion</a:t>
            </a:r>
            <a:endParaRPr lang="en-US" sz="1050" dirty="0">
              <a:latin typeface="Aptos" panose="020B0004020202020204" pitchFamily="34" charset="0"/>
            </a:endParaRPr>
          </a:p>
        </p:txBody>
      </p:sp>
      <p:sp>
        <p:nvSpPr>
          <p:cNvPr id="14" name="Shape 12"/>
          <p:cNvSpPr/>
          <p:nvPr/>
        </p:nvSpPr>
        <p:spPr>
          <a:xfrm>
            <a:off x="411480" y="3063240"/>
            <a:ext cx="5120640" cy="59436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15" name="Shape 13"/>
          <p:cNvSpPr/>
          <p:nvPr/>
        </p:nvSpPr>
        <p:spPr>
          <a:xfrm>
            <a:off x="411480" y="3063240"/>
            <a:ext cx="73152" cy="594360"/>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16" name="Text 14"/>
          <p:cNvSpPr/>
          <p:nvPr/>
        </p:nvSpPr>
        <p:spPr>
          <a:xfrm>
            <a:off x="612648" y="3136392"/>
            <a:ext cx="4846320" cy="274320"/>
          </a:xfrm>
          <a:prstGeom prst="rect">
            <a:avLst/>
          </a:prstGeom>
          <a:noFill/>
          <a:ln/>
        </p:spPr>
        <p:txBody>
          <a:bodyPr wrap="square" lIns="0" tIns="0" rIns="0" bIns="0" rtlCol="0" anchor="ctr"/>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Major Northeast Health System and Payor</a:t>
            </a:r>
            <a:endParaRPr lang="en-US" sz="1200" dirty="0">
              <a:latin typeface="Aptos" panose="020B0004020202020204" pitchFamily="34" charset="0"/>
            </a:endParaRPr>
          </a:p>
        </p:txBody>
      </p:sp>
      <p:sp>
        <p:nvSpPr>
          <p:cNvPr id="17" name="Text 15"/>
          <p:cNvSpPr/>
          <p:nvPr/>
        </p:nvSpPr>
        <p:spPr>
          <a:xfrm>
            <a:off x="612648" y="3383280"/>
            <a:ext cx="4846320" cy="256032"/>
          </a:xfrm>
          <a:prstGeom prst="rect">
            <a:avLst/>
          </a:prstGeom>
          <a:noFill/>
          <a:ln/>
        </p:spPr>
        <p:txBody>
          <a:bodyPr wrap="square" lIns="0" tIns="0" rIns="0" bIns="0" rtlCol="0" anchor="ctr"/>
          <a:lstStyle/>
          <a:p>
            <a:pPr marL="0" indent="0">
              <a:buNone/>
            </a:pPr>
            <a:r>
              <a:rPr lang="en-US" sz="1050" i="1" dirty="0">
                <a:solidFill>
                  <a:srgbClr val="1F2A37"/>
                </a:solidFill>
                <a:latin typeface="Aptos" panose="020B0004020202020204" pitchFamily="34" charset="0"/>
                <a:ea typeface="Open Sans" pitchFamily="34" charset="-122"/>
                <a:cs typeface="Open Sans" pitchFamily="34" charset="-120"/>
              </a:rPr>
              <a:t>Commercial use contracting and coverage policy engagement underway</a:t>
            </a:r>
            <a:endParaRPr lang="en-US" sz="1050" dirty="0">
              <a:latin typeface="Aptos" panose="020B0004020202020204" pitchFamily="34" charset="0"/>
            </a:endParaRPr>
          </a:p>
        </p:txBody>
      </p:sp>
      <p:sp>
        <p:nvSpPr>
          <p:cNvPr id="18" name="Shape 16"/>
          <p:cNvSpPr/>
          <p:nvPr/>
        </p:nvSpPr>
        <p:spPr>
          <a:xfrm>
            <a:off x="411480" y="3749040"/>
            <a:ext cx="5120640" cy="594360"/>
          </a:xfrm>
          <a:prstGeom prst="rect">
            <a:avLst/>
          </a:prstGeom>
          <a:solidFill>
            <a:srgbClr val="E4F1FA"/>
          </a:solidFill>
          <a:ln w="12700">
            <a:solidFill>
              <a:srgbClr val="E4F1FA"/>
            </a:solidFill>
            <a:prstDash val="solid"/>
          </a:ln>
        </p:spPr>
        <p:txBody>
          <a:bodyPr/>
          <a:lstStyle/>
          <a:p>
            <a:endParaRPr lang="en-US">
              <a:latin typeface="Aptos" panose="020B0004020202020204" pitchFamily="34" charset="0"/>
            </a:endParaRPr>
          </a:p>
        </p:txBody>
      </p:sp>
      <p:sp>
        <p:nvSpPr>
          <p:cNvPr id="19" name="Shape 17"/>
          <p:cNvSpPr/>
          <p:nvPr/>
        </p:nvSpPr>
        <p:spPr>
          <a:xfrm>
            <a:off x="411480" y="3749040"/>
            <a:ext cx="73152" cy="594360"/>
          </a:xfrm>
          <a:prstGeom prst="rect">
            <a:avLst/>
          </a:prstGeom>
          <a:solidFill>
            <a:srgbClr val="3DA8DD"/>
          </a:solidFill>
          <a:ln w="12700">
            <a:solidFill>
              <a:srgbClr val="3DA8DD"/>
            </a:solidFill>
            <a:prstDash val="solid"/>
          </a:ln>
        </p:spPr>
        <p:txBody>
          <a:bodyPr/>
          <a:lstStyle/>
          <a:p>
            <a:endParaRPr lang="en-US">
              <a:latin typeface="Aptos" panose="020B0004020202020204" pitchFamily="34" charset="0"/>
            </a:endParaRPr>
          </a:p>
        </p:txBody>
      </p:sp>
      <p:sp>
        <p:nvSpPr>
          <p:cNvPr id="20" name="Text 18"/>
          <p:cNvSpPr/>
          <p:nvPr/>
        </p:nvSpPr>
        <p:spPr>
          <a:xfrm>
            <a:off x="612648" y="3822192"/>
            <a:ext cx="4846320" cy="274320"/>
          </a:xfrm>
          <a:prstGeom prst="rect">
            <a:avLst/>
          </a:prstGeom>
          <a:noFill/>
          <a:ln/>
        </p:spPr>
        <p:txBody>
          <a:bodyPr wrap="square" lIns="0" tIns="0" rIns="0" bIns="0" rtlCol="0" anchor="ctr"/>
          <a:lstStyle/>
          <a:p>
            <a:pPr marL="0" indent="0">
              <a:buNone/>
            </a:pPr>
            <a:r>
              <a:rPr lang="en-US" sz="1200" b="1" dirty="0">
                <a:solidFill>
                  <a:srgbClr val="0E2841"/>
                </a:solidFill>
                <a:latin typeface="Aptos" panose="020B0004020202020204" pitchFamily="34" charset="0"/>
                <a:ea typeface="Open Sans" pitchFamily="34" charset="-122"/>
                <a:cs typeface="Open Sans" pitchFamily="34" charset="-120"/>
              </a:rPr>
              <a:t>Cross-Specialty Use in Southeastern Health System</a:t>
            </a:r>
            <a:endParaRPr lang="en-US" sz="1200" dirty="0">
              <a:latin typeface="Aptos" panose="020B0004020202020204" pitchFamily="34" charset="0"/>
            </a:endParaRPr>
          </a:p>
        </p:txBody>
      </p:sp>
      <p:sp>
        <p:nvSpPr>
          <p:cNvPr id="21" name="Text 19"/>
          <p:cNvSpPr/>
          <p:nvPr/>
        </p:nvSpPr>
        <p:spPr>
          <a:xfrm>
            <a:off x="612648" y="4069080"/>
            <a:ext cx="4846320" cy="256032"/>
          </a:xfrm>
          <a:prstGeom prst="rect">
            <a:avLst/>
          </a:prstGeom>
          <a:noFill/>
          <a:ln/>
        </p:spPr>
        <p:txBody>
          <a:bodyPr wrap="square" lIns="0" tIns="0" rIns="0" bIns="0" rtlCol="0" anchor="ctr"/>
          <a:lstStyle/>
          <a:p>
            <a:pPr marL="0" indent="0">
              <a:buNone/>
            </a:pPr>
            <a:r>
              <a:rPr lang="en-US" sz="1050" i="1" dirty="0">
                <a:solidFill>
                  <a:srgbClr val="1F2A37"/>
                </a:solidFill>
                <a:latin typeface="Aptos" panose="020B0004020202020204" pitchFamily="34" charset="0"/>
                <a:ea typeface="Open Sans" pitchFamily="34" charset="-122"/>
                <a:cs typeface="Open Sans" pitchFamily="34" charset="-120"/>
              </a:rPr>
              <a:t>Commercial pilot deployment in late-stage discussions</a:t>
            </a:r>
            <a:endParaRPr lang="en-US" sz="1050" dirty="0">
              <a:latin typeface="Aptos" panose="020B0004020202020204" pitchFamily="34" charset="0"/>
            </a:endParaRPr>
          </a:p>
        </p:txBody>
      </p:sp>
      <p:sp>
        <p:nvSpPr>
          <p:cNvPr id="22" name="Text 20"/>
          <p:cNvSpPr/>
          <p:nvPr/>
        </p:nvSpPr>
        <p:spPr>
          <a:xfrm>
            <a:off x="411480" y="4480560"/>
            <a:ext cx="5120640" cy="228600"/>
          </a:xfrm>
          <a:prstGeom prst="rect">
            <a:avLst/>
          </a:prstGeom>
          <a:noFill/>
          <a:ln/>
        </p:spPr>
        <p:txBody>
          <a:bodyPr wrap="square" lIns="0" tIns="0" rIns="0" bIns="0" rtlCol="0" anchor="ctr"/>
          <a:lstStyle/>
          <a:p>
            <a:pPr marL="0" indent="0">
              <a:buNone/>
            </a:pPr>
            <a:r>
              <a:rPr lang="en-US" sz="900" i="1" dirty="0">
                <a:solidFill>
                  <a:srgbClr val="5B6B7F"/>
                </a:solidFill>
                <a:latin typeface="Aptos" panose="020B0004020202020204" pitchFamily="34" charset="0"/>
                <a:ea typeface="Open Sans" pitchFamily="34" charset="-122"/>
                <a:cs typeface="Open Sans" pitchFamily="34" charset="-120"/>
              </a:rPr>
              <a:t>Entity names withheld for confidentiality; updates to follow as engagements advance.</a:t>
            </a:r>
            <a:endParaRPr lang="en-US" sz="900" dirty="0">
              <a:latin typeface="Aptos" panose="020B0004020202020204" pitchFamily="34" charset="0"/>
            </a:endParaRPr>
          </a:p>
        </p:txBody>
      </p:sp>
      <p:sp>
        <p:nvSpPr>
          <p:cNvPr id="23" name="Shape 21"/>
          <p:cNvSpPr/>
          <p:nvPr/>
        </p:nvSpPr>
        <p:spPr>
          <a:xfrm>
            <a:off x="5715000" y="1371600"/>
            <a:ext cx="3017520" cy="3200400"/>
          </a:xfrm>
          <a:prstGeom prst="rect">
            <a:avLst/>
          </a:prstGeom>
          <a:solidFill>
            <a:srgbClr val="0B2A4A"/>
          </a:solidFill>
          <a:ln w="12700">
            <a:solidFill>
              <a:srgbClr val="0B2A4A"/>
            </a:solidFill>
            <a:prstDash val="solid"/>
          </a:ln>
        </p:spPr>
        <p:txBody>
          <a:bodyPr/>
          <a:lstStyle/>
          <a:p>
            <a:endParaRPr lang="en-US">
              <a:latin typeface="Aptos" panose="020B0004020202020204" pitchFamily="34" charset="0"/>
            </a:endParaRPr>
          </a:p>
        </p:txBody>
      </p:sp>
      <p:sp>
        <p:nvSpPr>
          <p:cNvPr id="24" name="Shape 22"/>
          <p:cNvSpPr/>
          <p:nvPr/>
        </p:nvSpPr>
        <p:spPr>
          <a:xfrm>
            <a:off x="5715000" y="1371600"/>
            <a:ext cx="3017520" cy="73152"/>
          </a:xfrm>
          <a:prstGeom prst="rect">
            <a:avLst/>
          </a:prstGeom>
          <a:solidFill>
            <a:srgbClr val="60B6EE"/>
          </a:solidFill>
          <a:ln w="12700">
            <a:solidFill>
              <a:srgbClr val="60B6EE"/>
            </a:solidFill>
            <a:prstDash val="solid"/>
          </a:ln>
        </p:spPr>
        <p:txBody>
          <a:bodyPr/>
          <a:lstStyle/>
          <a:p>
            <a:endParaRPr lang="en-US">
              <a:latin typeface="Aptos" panose="020B0004020202020204" pitchFamily="34" charset="0"/>
            </a:endParaRPr>
          </a:p>
        </p:txBody>
      </p:sp>
      <p:sp>
        <p:nvSpPr>
          <p:cNvPr id="25" name="Text 23"/>
          <p:cNvSpPr/>
          <p:nvPr/>
        </p:nvSpPr>
        <p:spPr>
          <a:xfrm>
            <a:off x="5943600" y="1600200"/>
            <a:ext cx="2651760" cy="256032"/>
          </a:xfrm>
          <a:prstGeom prst="rect">
            <a:avLst/>
          </a:prstGeom>
          <a:noFill/>
          <a:ln/>
        </p:spPr>
        <p:txBody>
          <a:bodyPr wrap="square" lIns="0" tIns="0" rIns="0" bIns="0" rtlCol="0" anchor="ctr"/>
          <a:lstStyle/>
          <a:p>
            <a:pPr marL="0" indent="0">
              <a:buNone/>
            </a:pPr>
            <a:r>
              <a:rPr lang="en-US" sz="1000" b="1" kern="0" spc="400" dirty="0">
                <a:solidFill>
                  <a:srgbClr val="59AFED"/>
                </a:solidFill>
                <a:latin typeface="Aptos" panose="020B0004020202020204" pitchFamily="34" charset="0"/>
                <a:ea typeface="Open Sans" pitchFamily="34" charset="-122"/>
                <a:cs typeface="Open Sans" pitchFamily="34" charset="-120"/>
              </a:rPr>
              <a:t>THIS WEEKEND</a:t>
            </a:r>
            <a:endParaRPr lang="en-US" sz="1000" dirty="0">
              <a:solidFill>
                <a:srgbClr val="59AFED"/>
              </a:solidFill>
              <a:latin typeface="Aptos" panose="020B0004020202020204" pitchFamily="34" charset="0"/>
            </a:endParaRPr>
          </a:p>
        </p:txBody>
      </p:sp>
      <p:sp>
        <p:nvSpPr>
          <p:cNvPr id="26" name="Text 24"/>
          <p:cNvSpPr/>
          <p:nvPr/>
        </p:nvSpPr>
        <p:spPr>
          <a:xfrm>
            <a:off x="5943600" y="1874520"/>
            <a:ext cx="2651760" cy="685800"/>
          </a:xfrm>
          <a:prstGeom prst="rect">
            <a:avLst/>
          </a:prstGeom>
          <a:noFill/>
          <a:ln/>
        </p:spPr>
        <p:txBody>
          <a:bodyPr wrap="square" lIns="0" tIns="0" rIns="0" bIns="0" rtlCol="0" anchor="ctr"/>
          <a:lstStyle/>
          <a:p>
            <a:pPr marL="0" indent="0">
              <a:buNone/>
            </a:pPr>
            <a:r>
              <a:rPr lang="en-US" sz="3800" b="1" dirty="0">
                <a:solidFill>
                  <a:srgbClr val="FFFFFF"/>
                </a:solidFill>
                <a:latin typeface="Aptos" panose="020B0004020202020204" pitchFamily="34" charset="0"/>
                <a:ea typeface="Open Sans" pitchFamily="34" charset="-122"/>
                <a:cs typeface="Open Sans" pitchFamily="34" charset="-120"/>
              </a:rPr>
              <a:t>ATS.26</a:t>
            </a:r>
            <a:endParaRPr lang="en-US" sz="3800" dirty="0">
              <a:latin typeface="Aptos" panose="020B0004020202020204" pitchFamily="34" charset="0"/>
            </a:endParaRPr>
          </a:p>
        </p:txBody>
      </p:sp>
      <p:sp>
        <p:nvSpPr>
          <p:cNvPr id="27" name="Text 25"/>
          <p:cNvSpPr/>
          <p:nvPr/>
        </p:nvSpPr>
        <p:spPr>
          <a:xfrm>
            <a:off x="5943600" y="2560320"/>
            <a:ext cx="2651760" cy="502920"/>
          </a:xfrm>
          <a:prstGeom prst="rect">
            <a:avLst/>
          </a:prstGeom>
          <a:noFill/>
          <a:ln/>
        </p:spPr>
        <p:txBody>
          <a:bodyPr wrap="square" lIns="0" tIns="0" rIns="0" bIns="0" rtlCol="0" anchor="t"/>
          <a:lstStyle/>
          <a:p>
            <a:pPr marL="0" indent="0">
              <a:buNone/>
            </a:pPr>
            <a:r>
              <a:rPr lang="en-US" sz="1100" dirty="0">
                <a:solidFill>
                  <a:srgbClr val="BFD2E4"/>
                </a:solidFill>
                <a:latin typeface="Aptos" panose="020B0004020202020204" pitchFamily="34" charset="0"/>
                <a:ea typeface="Open Sans" pitchFamily="34" charset="-122"/>
                <a:cs typeface="Open Sans" pitchFamily="34" charset="-120"/>
              </a:rPr>
              <a:t>American Thoracic Society International Conference</a:t>
            </a:r>
            <a:endParaRPr lang="en-US" sz="1100" dirty="0">
              <a:latin typeface="Aptos" panose="020B0004020202020204" pitchFamily="34" charset="0"/>
            </a:endParaRPr>
          </a:p>
        </p:txBody>
      </p:sp>
      <p:sp>
        <p:nvSpPr>
          <p:cNvPr id="28" name="Shape 26"/>
          <p:cNvSpPr/>
          <p:nvPr/>
        </p:nvSpPr>
        <p:spPr>
          <a:xfrm>
            <a:off x="5943600" y="3108960"/>
            <a:ext cx="457200" cy="36576"/>
          </a:xfrm>
          <a:prstGeom prst="rect">
            <a:avLst/>
          </a:prstGeom>
          <a:solidFill>
            <a:srgbClr val="59AFED"/>
          </a:solidFill>
          <a:ln w="12700">
            <a:solidFill>
              <a:srgbClr val="3DA8DD"/>
            </a:solidFill>
            <a:prstDash val="solid"/>
          </a:ln>
        </p:spPr>
        <p:txBody>
          <a:bodyPr/>
          <a:lstStyle/>
          <a:p>
            <a:endParaRPr lang="en-US">
              <a:latin typeface="Aptos" panose="020B0004020202020204" pitchFamily="34" charset="0"/>
            </a:endParaRPr>
          </a:p>
        </p:txBody>
      </p:sp>
      <p:sp>
        <p:nvSpPr>
          <p:cNvPr id="29" name="Text 27"/>
          <p:cNvSpPr/>
          <p:nvPr/>
        </p:nvSpPr>
        <p:spPr>
          <a:xfrm>
            <a:off x="5943600" y="3200400"/>
            <a:ext cx="2651760" cy="274320"/>
          </a:xfrm>
          <a:prstGeom prst="rect">
            <a:avLst/>
          </a:prstGeom>
          <a:noFill/>
          <a:ln/>
        </p:spPr>
        <p:txBody>
          <a:bodyPr wrap="square" lIns="0" tIns="0" rIns="0" bIns="0" rtlCol="0" anchor="ctr"/>
          <a:lstStyle/>
          <a:p>
            <a:pPr marL="0" indent="0">
              <a:buNone/>
            </a:pPr>
            <a:r>
              <a:rPr lang="en-US" sz="1300" b="1" dirty="0">
                <a:solidFill>
                  <a:srgbClr val="FFFFFF"/>
                </a:solidFill>
                <a:latin typeface="Aptos" panose="020B0004020202020204" pitchFamily="34" charset="0"/>
                <a:ea typeface="Open Sans" pitchFamily="34" charset="-122"/>
                <a:cs typeface="Open Sans" pitchFamily="34" charset="-120"/>
              </a:rPr>
              <a:t>May 17–19, 2026</a:t>
            </a:r>
            <a:endParaRPr lang="en-US" sz="1300" dirty="0">
              <a:latin typeface="Aptos" panose="020B0004020202020204" pitchFamily="34" charset="0"/>
            </a:endParaRPr>
          </a:p>
        </p:txBody>
      </p:sp>
      <p:sp>
        <p:nvSpPr>
          <p:cNvPr id="30" name="Text 28"/>
          <p:cNvSpPr/>
          <p:nvPr/>
        </p:nvSpPr>
        <p:spPr>
          <a:xfrm>
            <a:off x="5943600" y="3520440"/>
            <a:ext cx="2651760" cy="914400"/>
          </a:xfrm>
          <a:prstGeom prst="rect">
            <a:avLst/>
          </a:prstGeom>
          <a:noFill/>
          <a:ln/>
        </p:spPr>
        <p:txBody>
          <a:bodyPr wrap="square" lIns="0" tIns="0" rIns="0" bIns="0" rtlCol="0" anchor="t"/>
          <a:lstStyle/>
          <a:p>
            <a:pPr marL="0" indent="0">
              <a:buNone/>
            </a:pPr>
            <a:r>
              <a:rPr lang="en-US" sz="1050" dirty="0">
                <a:solidFill>
                  <a:srgbClr val="DCE7F1"/>
                </a:solidFill>
                <a:latin typeface="Aptos" panose="020B0004020202020204" pitchFamily="34" charset="0"/>
                <a:ea typeface="Open Sans" pitchFamily="34" charset="-122"/>
                <a:cs typeface="Open Sans" pitchFamily="34" charset="-120"/>
              </a:rPr>
              <a:t>CorVista will engage KOLs in pulmonary vascular medicine and amplify the Mayo Clinic announcement on the ground.</a:t>
            </a:r>
            <a:endParaRPr lang="en-US" sz="1050" dirty="0">
              <a:latin typeface="Aptos" panose="020B0004020202020204" pitchFamily="34" charset="0"/>
            </a:endParaRPr>
          </a:p>
        </p:txBody>
      </p:sp>
      <p:sp>
        <p:nvSpPr>
          <p:cNvPr id="31" name="Shape 29"/>
          <p:cNvSpPr/>
          <p:nvPr/>
        </p:nvSpPr>
        <p:spPr>
          <a:xfrm>
            <a:off x="365760" y="4736592"/>
            <a:ext cx="8412480" cy="10973"/>
          </a:xfrm>
          <a:prstGeom prst="rect">
            <a:avLst/>
          </a:prstGeom>
          <a:solidFill>
            <a:srgbClr val="DDE2E7"/>
          </a:solidFill>
          <a:ln w="12700">
            <a:solidFill>
              <a:srgbClr val="DDE2E7"/>
            </a:solidFill>
            <a:prstDash val="solid"/>
          </a:ln>
        </p:spPr>
        <p:txBody>
          <a:bodyPr/>
          <a:lstStyle/>
          <a:p>
            <a:endParaRPr lang="en-US">
              <a:latin typeface="Aptos" panose="020B0004020202020204" pitchFamily="34" charset="0"/>
            </a:endParaRPr>
          </a:p>
        </p:txBody>
      </p:sp>
      <p:sp>
        <p:nvSpPr>
          <p:cNvPr id="32" name="Text 30"/>
          <p:cNvSpPr/>
          <p:nvPr/>
        </p:nvSpPr>
        <p:spPr>
          <a:xfrm>
            <a:off x="365760" y="4800600"/>
            <a:ext cx="365760" cy="274320"/>
          </a:xfrm>
          <a:prstGeom prst="rect">
            <a:avLst/>
          </a:prstGeom>
          <a:noFill/>
          <a:ln/>
        </p:spPr>
        <p:txBody>
          <a:bodyPr wrap="square" lIns="0" tIns="0" rIns="0" bIns="0" rtlCol="0" anchor="ctr"/>
          <a:lstStyle/>
          <a:p>
            <a:pPr marL="0" indent="0">
              <a:buNone/>
            </a:pPr>
            <a:r>
              <a:rPr lang="en-US" sz="900" dirty="0">
                <a:solidFill>
                  <a:srgbClr val="5B6B7F"/>
                </a:solidFill>
                <a:latin typeface="Aptos" panose="020B0004020202020204" pitchFamily="34" charset="0"/>
                <a:ea typeface="Open Sans" pitchFamily="34" charset="-122"/>
                <a:cs typeface="Open Sans" pitchFamily="34" charset="-120"/>
              </a:rPr>
              <a:t>5</a:t>
            </a:r>
            <a:endParaRPr lang="en-US" sz="900" dirty="0">
              <a:latin typeface="Aptos" panose="020B0004020202020204" pitchFamily="34" charset="0"/>
            </a:endParaRPr>
          </a:p>
        </p:txBody>
      </p:sp>
      <p:pic>
        <p:nvPicPr>
          <p:cNvPr id="34" name="Image 0" descr="/mnt/data/cvh_unzip/ppt/media/image1.png">
            <a:extLst>
              <a:ext uri="{FF2B5EF4-FFF2-40B4-BE49-F238E27FC236}">
                <a16:creationId xmlns:a16="http://schemas.microsoft.com/office/drawing/2014/main" id="{B751C4FA-624C-13A4-1AA0-AC05C867A45F}"/>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745908" y="4856278"/>
            <a:ext cx="1234440" cy="162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DC29896-B4A4-0746-8297-4757724AD313}">
  <we:reference id="wa200010001" version="1.0.0.1" store="en-US" storeType="OMEX"/>
  <we:alternateReferences>
    <we:reference id="WA200010001" version="1.0.0.1" store="WA200010001" storeType="OMEX"/>
  </we:alternateReferences>
  <we:properties>
    <we:property name="claude.fileId" value="&quot;5fa001f1-b6f1-4bed-9940-41d9a3b7c46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195</TotalTime>
  <Words>1147</Words>
  <Application>Microsoft Macintosh PowerPoint</Application>
  <PresentationFormat>On-screen Show (16:9)</PresentationFormat>
  <Paragraphs>115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CorVista Health — Investor Update — May 2026</dc:title>
  <dc:subject>PptxGenJS Presentation</dc:subject>
  <dc:creator>CorVista Health</dc:creator>
  <cp:lastModifiedBy>Grant Smith</cp:lastModifiedBy>
  <cp:revision>3</cp:revision>
  <dcterms:created xsi:type="dcterms:W3CDTF">2026-05-11T13:17:42Z</dcterms:created>
  <dcterms:modified xsi:type="dcterms:W3CDTF">2026-05-11T18:01:42Z</dcterms:modified>
</cp:coreProperties>
</file>